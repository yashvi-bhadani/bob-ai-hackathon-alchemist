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3" r:id="rId6"/>
    <p:sldId id="265" r:id="rId7"/>
    <p:sldId id="266" r:id="rId8"/>
    <p:sldId id="267" r:id="rId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5" d="100"/>
          <a:sy n="55" d="100"/>
        </p:scale>
        <p:origin x="65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5769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" y="2011680"/>
            <a:ext cx="1627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FABPULSE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3383280"/>
            <a:ext cx="1627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FAB BOTTLENECK, DELIVERY-IMPACT &amp; SUPPLY-CHAIN RISK DASHBOARD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480560"/>
            <a:ext cx="1627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IBM Bob AI Innovation Hackathon  ·  Team Alchemist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5029200"/>
            <a:ext cx="1627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Astha Makwana  |  Yashvi Bhadani  |  Manthan Chavda  |  Radhika Dholakiya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05840" y="7406640"/>
            <a:ext cx="1691640" cy="1097280"/>
          </a:xfrm>
          <a:prstGeom prst="roundRect">
            <a:avLst>
              <a:gd name="adj" fmla="val 11667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7406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WaferStart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34056" y="7955280"/>
            <a:ext cx="292608" cy="0"/>
          </a:xfrm>
          <a:prstGeom prst="line">
            <a:avLst/>
          </a:prstGeom>
          <a:noFill/>
          <a:ln w="19050">
            <a:solidFill>
              <a:srgbClr val="6B6B7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63240" y="7406640"/>
            <a:ext cx="1691640" cy="1097280"/>
          </a:xfrm>
          <a:prstGeom prst="roundRect">
            <a:avLst>
              <a:gd name="adj" fmla="val 11667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63240" y="7406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Lithography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91456" y="7955280"/>
            <a:ext cx="292608" cy="0"/>
          </a:xfrm>
          <a:prstGeom prst="line">
            <a:avLst/>
          </a:prstGeom>
          <a:noFill/>
          <a:ln w="19050">
            <a:solidFill>
              <a:srgbClr val="6B6B7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120640" y="7406640"/>
            <a:ext cx="1691640" cy="1097280"/>
          </a:xfrm>
          <a:prstGeom prst="roundRect">
            <a:avLst>
              <a:gd name="adj" fmla="val 11667"/>
            </a:avLst>
          </a:prstGeom>
          <a:solidFill>
            <a:srgbClr val="F9DADC"/>
          </a:solidFill>
          <a:ln w="31750">
            <a:solidFill>
              <a:srgbClr val="E548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0" y="7406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Etch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48856" y="7955280"/>
            <a:ext cx="292608" cy="0"/>
          </a:xfrm>
          <a:prstGeom prst="line">
            <a:avLst/>
          </a:prstGeom>
          <a:noFill/>
          <a:ln w="19050">
            <a:solidFill>
              <a:srgbClr val="6B6B7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178040" y="7406640"/>
            <a:ext cx="1691640" cy="1097280"/>
          </a:xfrm>
          <a:prstGeom prst="roundRect">
            <a:avLst>
              <a:gd name="adj" fmla="val 11667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78040" y="7406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CVD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906256" y="7955280"/>
            <a:ext cx="292608" cy="0"/>
          </a:xfrm>
          <a:prstGeom prst="line">
            <a:avLst/>
          </a:prstGeom>
          <a:noFill/>
          <a:ln w="19050">
            <a:solidFill>
              <a:srgbClr val="6B6B7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235440" y="7406640"/>
            <a:ext cx="1691640" cy="1097280"/>
          </a:xfrm>
          <a:prstGeom prst="roundRect">
            <a:avLst>
              <a:gd name="adj" fmla="val 11667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35440" y="7406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CMP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0963656" y="7955280"/>
            <a:ext cx="292608" cy="0"/>
          </a:xfrm>
          <a:prstGeom prst="line">
            <a:avLst/>
          </a:prstGeom>
          <a:noFill/>
          <a:ln w="19050">
            <a:solidFill>
              <a:srgbClr val="6B6B7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292840" y="7406640"/>
            <a:ext cx="1691640" cy="1097280"/>
          </a:xfrm>
          <a:prstGeom prst="roundRect">
            <a:avLst>
              <a:gd name="adj" fmla="val 11667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292840" y="7406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Ion Implant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3021056" y="7955280"/>
            <a:ext cx="292608" cy="0"/>
          </a:xfrm>
          <a:prstGeom prst="line">
            <a:avLst/>
          </a:prstGeom>
          <a:noFill/>
          <a:ln w="19050">
            <a:solidFill>
              <a:srgbClr val="6B6B7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3350240" y="7406640"/>
            <a:ext cx="1691640" cy="1097280"/>
          </a:xfrm>
          <a:prstGeom prst="roundRect">
            <a:avLst>
              <a:gd name="adj" fmla="val 11667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350240" y="7406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Metallization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5078456" y="7955280"/>
            <a:ext cx="292608" cy="0"/>
          </a:xfrm>
          <a:prstGeom prst="line">
            <a:avLst/>
          </a:prstGeom>
          <a:noFill/>
          <a:ln w="19050">
            <a:solidFill>
              <a:srgbClr val="6B6B7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5407640" y="7406640"/>
            <a:ext cx="1691640" cy="1097280"/>
          </a:xfrm>
          <a:prstGeom prst="roundRect">
            <a:avLst>
              <a:gd name="adj" fmla="val 11667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5407640" y="7406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&amp; Pack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8778240"/>
            <a:ext cx="1627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6B7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8-station line  ·  live risk per machine  ·  updated every 3 seconds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" y="731520"/>
            <a:ext cx="1627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PROBLEM: CASCADING RISK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011680"/>
            <a:ext cx="1627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bottleneck at one station is never a local event.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2697480"/>
            <a:ext cx="1627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One slow machine builds a queue, delay ripples down the line, and the buffer between the team’s deadline and the customer’s disappears — while critical materials sit behind a single supplier country.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4297680"/>
            <a:ext cx="822960" cy="82296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039" y="4519879"/>
            <a:ext cx="378562" cy="3785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03120" y="42976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WIP queue builds at the slow station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1417320" y="5166360"/>
            <a:ext cx="0" cy="274320"/>
          </a:xfrm>
          <a:prstGeom prst="line">
            <a:avLst/>
          </a:prstGeom>
          <a:noFill/>
          <a:ln w="19050">
            <a:solidFill>
              <a:srgbClr val="6B6B78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05840" y="5486400"/>
            <a:ext cx="822960" cy="82296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039" y="5708599"/>
            <a:ext cx="378562" cy="37856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03120" y="548640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Delay propagates to every downstream station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1417320" y="6355080"/>
            <a:ext cx="0" cy="274320"/>
          </a:xfrm>
          <a:prstGeom prst="line">
            <a:avLst/>
          </a:prstGeom>
          <a:noFill/>
          <a:ln w="19050">
            <a:solidFill>
              <a:srgbClr val="6B6B78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1005840" y="6675120"/>
            <a:ext cx="822960" cy="82296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039" y="6897319"/>
            <a:ext cx="378562" cy="37856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103120" y="66751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deadline slips, external buffer shrinks</a:t>
            </a:r>
            <a:endParaRPr lang="en-US" sz="2100" dirty="0"/>
          </a:p>
        </p:txBody>
      </p:sp>
      <p:sp>
        <p:nvSpPr>
          <p:cNvPr id="16" name="Shape 11"/>
          <p:cNvSpPr/>
          <p:nvPr/>
        </p:nvSpPr>
        <p:spPr>
          <a:xfrm>
            <a:off x="1417320" y="7543800"/>
            <a:ext cx="0" cy="274320"/>
          </a:xfrm>
          <a:prstGeom prst="line">
            <a:avLst/>
          </a:prstGeom>
          <a:noFill/>
          <a:ln w="19050">
            <a:solidFill>
              <a:srgbClr val="6B6B78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1005840" y="7863840"/>
            <a:ext cx="822960" cy="82296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8039" y="8086039"/>
            <a:ext cx="378562" cy="37856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2103120" y="78638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 commitment becomes AT_RISK</a:t>
            </a:r>
            <a:endParaRPr lang="en-US" sz="2100" dirty="0"/>
          </a:p>
        </p:txBody>
      </p:sp>
      <p:sp>
        <p:nvSpPr>
          <p:cNvPr id="20" name="Shape 14"/>
          <p:cNvSpPr/>
          <p:nvPr/>
        </p:nvSpPr>
        <p:spPr>
          <a:xfrm>
            <a:off x="9784080" y="4297680"/>
            <a:ext cx="7498080" cy="2331720"/>
          </a:xfrm>
          <a:prstGeom prst="roundRect">
            <a:avLst>
              <a:gd name="adj" fmla="val 5490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0104120" y="4617720"/>
            <a:ext cx="731520" cy="7315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1630" y="4815230"/>
            <a:ext cx="336499" cy="33649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109960" y="461772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Fragile materials</a:t>
            </a:r>
            <a:endParaRPr lang="en-US" sz="2400" dirty="0"/>
          </a:p>
        </p:txBody>
      </p:sp>
      <p:sp>
        <p:nvSpPr>
          <p:cNvPr id="24" name="Text 17"/>
          <p:cNvSpPr txBox="1"/>
          <p:nvPr/>
        </p:nvSpPr>
        <p:spPr>
          <a:xfrm>
            <a:off x="10104120" y="54864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Gallium, germanium, neon, photoresist and cobalt each depend on one dominant supplier country — from 60% to 90% share.</a:t>
            </a:r>
            <a:endParaRPr lang="en-US" sz="1750" dirty="0"/>
          </a:p>
        </p:txBody>
      </p:sp>
      <p:sp>
        <p:nvSpPr>
          <p:cNvPr id="25" name="Shape 18"/>
          <p:cNvSpPr/>
          <p:nvPr/>
        </p:nvSpPr>
        <p:spPr>
          <a:xfrm>
            <a:off x="9784080" y="6903720"/>
            <a:ext cx="7498080" cy="2331720"/>
          </a:xfrm>
          <a:prstGeom prst="roundRect">
            <a:avLst>
              <a:gd name="adj" fmla="val 5490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0104120" y="7223760"/>
            <a:ext cx="731520" cy="7315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1630" y="7421270"/>
            <a:ext cx="336499" cy="33649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1109960" y="722376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decision in ten seconds</a:t>
            </a:r>
            <a:endParaRPr lang="en-US" sz="2400" dirty="0"/>
          </a:p>
        </p:txBody>
      </p:sp>
      <p:sp>
        <p:nvSpPr>
          <p:cNvPr id="29" name="Text 21"/>
          <p:cNvSpPr txBox="1"/>
          <p:nvPr/>
        </p:nvSpPr>
        <p:spPr>
          <a:xfrm>
            <a:off x="10104120" y="809244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manager needs to see which station is critical, how many hours are at stake and how much buffer is left — at a glance.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" y="731520"/>
            <a:ext cx="1627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OUR SOLUTION: ONE DECISION LAYER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1874520"/>
            <a:ext cx="1627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Detect → Score → Propagate → Buffer → Suggest → Trace supply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05840" y="2606040"/>
            <a:ext cx="8001000" cy="1965960"/>
          </a:xfrm>
          <a:prstGeom prst="roundRect">
            <a:avLst>
              <a:gd name="adj" fmla="val 6512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2880360"/>
            <a:ext cx="731520" cy="7315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390" y="3077870"/>
            <a:ext cx="336499" cy="33649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86000" y="28803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DETECT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379476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WIP, utilization and health for all 8 stations, streamed every 3 seconds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9281160" y="2606040"/>
            <a:ext cx="8001000" cy="1965960"/>
          </a:xfrm>
          <a:prstGeom prst="roundRect">
            <a:avLst>
              <a:gd name="adj" fmla="val 6512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601200" y="2880360"/>
            <a:ext cx="731520" cy="7315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710" y="3077870"/>
            <a:ext cx="336499" cy="33649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561320" y="28803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9601200" y="379476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0–100 risk score per machine in four bands: Low, Medium, High, Critical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1005840" y="4800600"/>
            <a:ext cx="8001000" cy="1965960"/>
          </a:xfrm>
          <a:prstGeom prst="roundRect">
            <a:avLst>
              <a:gd name="adj" fmla="val 6512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325880" y="5074920"/>
            <a:ext cx="731520" cy="7315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3390" y="5272430"/>
            <a:ext cx="336499" cy="33649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2286000" y="50749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PROPAGATE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1325880" y="598932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Delay cascades downstream, softened by stations that have spare capacity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9281160" y="4800600"/>
            <a:ext cx="8001000" cy="1965960"/>
          </a:xfrm>
          <a:prstGeom prst="roundRect">
            <a:avLst>
              <a:gd name="adj" fmla="val 6512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601200" y="5074920"/>
            <a:ext cx="731520" cy="7315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8710" y="5272430"/>
            <a:ext cx="336499" cy="33649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561320" y="50749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BUFFER</a:t>
            </a:r>
            <a:endParaRPr lang="en-US" sz="24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0" y="598932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vs external deadline shows how many days remain before the customer is hit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1005840" y="6995160"/>
            <a:ext cx="8001000" cy="1965960"/>
          </a:xfrm>
          <a:prstGeom prst="roundRect">
            <a:avLst>
              <a:gd name="adj" fmla="val 6512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1325880" y="7269480"/>
            <a:ext cx="731520" cy="7315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3390" y="7466990"/>
            <a:ext cx="336499" cy="336499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286000" y="72694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SUGGEST</a:t>
            </a:r>
            <a:endParaRPr lang="en-US" sz="2400" dirty="0"/>
          </a:p>
        </p:txBody>
      </p:sp>
      <p:sp>
        <p:nvSpPr>
          <p:cNvPr id="28" name="Text 21"/>
          <p:cNvSpPr txBox="1"/>
          <p:nvPr/>
        </p:nvSpPr>
        <p:spPr>
          <a:xfrm>
            <a:off x="1325880" y="818388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Spare-capacity speed-ups; one click applies them and re-renders the line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9281160" y="6995160"/>
            <a:ext cx="8001000" cy="1965960"/>
          </a:xfrm>
          <a:prstGeom prst="roundRect">
            <a:avLst>
              <a:gd name="adj" fmla="val 6512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9601200" y="7269480"/>
            <a:ext cx="731520" cy="7315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98710" y="7466990"/>
            <a:ext cx="336499" cy="336499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0561320" y="72694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TRACE SUPPLY</a:t>
            </a:r>
            <a:endParaRPr lang="en-US" sz="2400" dirty="0"/>
          </a:p>
        </p:txBody>
      </p:sp>
      <p:sp>
        <p:nvSpPr>
          <p:cNvPr id="33" name="Text 25"/>
          <p:cNvSpPr txBox="1"/>
          <p:nvPr/>
        </p:nvSpPr>
        <p:spPr>
          <a:xfrm>
            <a:off x="9601200" y="818388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Per-material risk from country concentration, export control and single-sourcing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" y="731520"/>
            <a:ext cx="1627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TECHNICAL ARCHITECTURE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1874520"/>
            <a:ext cx="1627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React client + Node/Express server, streaming simulated MES/WIP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4572000" cy="5212080"/>
          </a:xfrm>
          <a:prstGeom prst="roundRect">
            <a:avLst>
              <a:gd name="adj" fmla="val 2800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28803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React client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3383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6B7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Single-page 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3977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React + TypeScript + Vite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45994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TailwindCSS + shadcn/ui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5221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React Flow — conveyor line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584301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Recharts — drill-down modal only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6464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Zustand — client state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7086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Lucide icons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223760" y="2651760"/>
            <a:ext cx="4572000" cy="5212080"/>
          </a:xfrm>
          <a:prstGeom prst="roundRect">
            <a:avLst>
              <a:gd name="adj" fmla="val 2800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43800" y="28803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Express server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3383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6B7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server.ts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543800" y="3977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Node.js + Express + TypeScript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7543800" y="45994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JWT middleware on every /api route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7543800" y="5221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In-memory store, seeded at start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7543800" y="584301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3-second tick loop (setInterval)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6464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Socket.IO push to clients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7543800" y="70866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Seeded supply-chain JSON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39776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 /api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42976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6B7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Bearer JWT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715000" y="4754880"/>
            <a:ext cx="1371600" cy="0"/>
          </a:xfrm>
          <a:prstGeom prst="line">
            <a:avLst/>
          </a:prstGeom>
          <a:noFill/>
          <a:ln w="25400">
            <a:solidFill>
              <a:srgbClr val="1B1B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5715000" y="5074920"/>
            <a:ext cx="1371600" cy="0"/>
          </a:xfrm>
          <a:prstGeom prst="line">
            <a:avLst/>
          </a:prstGeom>
          <a:noFill/>
          <a:ln w="25400">
            <a:solidFill>
              <a:srgbClr val="1B1B27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5577840" y="5532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Socket.IO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5852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6B7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‘tick’ every 3s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 flipH="1">
            <a:off x="5715000" y="6309360"/>
            <a:ext cx="1371600" cy="0"/>
          </a:xfrm>
          <a:prstGeom prst="line">
            <a:avLst/>
          </a:prstGeom>
          <a:noFill/>
          <a:ln w="25400">
            <a:solidFill>
              <a:srgbClr val="1B1B2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2161520" y="2651760"/>
            <a:ext cx="5120640" cy="5212080"/>
          </a:xfrm>
          <a:prstGeom prst="roundRect">
            <a:avLst>
              <a:gd name="adj" fmla="val 2500"/>
            </a:avLst>
          </a:prstGeom>
          <a:solidFill>
            <a:srgbClr val="31313B"/>
          </a:solidFill>
          <a:ln w="12700">
            <a:solidFill>
              <a:srgbClr val="31313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27280" y="28803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API contract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2527280" y="3611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/api/auth/login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252728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/api/order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527280" y="4526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/api/order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2527280" y="4983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/api/machines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2527280" y="5440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/api/flow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2527280" y="5897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/api/supply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2527280" y="6355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/api/suggestions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2527280" y="6812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/api/suggestions/:id/apply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2527280" y="7269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2C9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WS   /socket  → tick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005840" y="8229600"/>
            <a:ext cx="16276320" cy="914400"/>
          </a:xfrm>
          <a:prstGeom prst="roundRect">
            <a:avLst>
              <a:gd name="adj" fmla="val 14000"/>
            </a:avLst>
          </a:prstGeom>
          <a:solidFill>
            <a:srgbClr val="ECECF3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71600" y="8229600"/>
            <a:ext cx="1554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ML models, no database, no external APIs. Every score is a deterministic formula you can verify by hand.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" y="731520"/>
            <a:ext cx="1627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DEADLINE BUFFER: INTERNAL VS EXTERNAL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6B7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 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931920" y="2743200"/>
            <a:ext cx="0" cy="3977640"/>
          </a:xfrm>
          <a:prstGeom prst="line">
            <a:avLst/>
          </a:prstGeom>
          <a:noFill/>
          <a:ln w="9525">
            <a:solidFill>
              <a:srgbClr val="C7C7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0060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6B7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 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0" y="2743200"/>
            <a:ext cx="0" cy="3977640"/>
          </a:xfrm>
          <a:prstGeom prst="line">
            <a:avLst/>
          </a:prstGeom>
          <a:noFill/>
          <a:ln w="9525">
            <a:solidFill>
              <a:srgbClr val="C7C7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2648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6B7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 2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0" y="2743200"/>
            <a:ext cx="0" cy="3977640"/>
          </a:xfrm>
          <a:prstGeom prst="line">
            <a:avLst/>
          </a:prstGeom>
          <a:noFill/>
          <a:ln w="9525">
            <a:solidFill>
              <a:srgbClr val="C7C7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5236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6B7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 3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09560" y="2743200"/>
            <a:ext cx="0" cy="3977640"/>
          </a:xfrm>
          <a:prstGeom prst="line">
            <a:avLst/>
          </a:prstGeom>
          <a:noFill/>
          <a:ln w="9525">
            <a:solidFill>
              <a:srgbClr val="C7C7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7824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6B7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 4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235440" y="2743200"/>
            <a:ext cx="0" cy="3977640"/>
          </a:xfrm>
          <a:prstGeom prst="line">
            <a:avLst/>
          </a:prstGeom>
          <a:noFill/>
          <a:ln w="9525">
            <a:solidFill>
              <a:srgbClr val="C7C7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10412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6B7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Day 5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561320" y="2743200"/>
            <a:ext cx="0" cy="3977640"/>
          </a:xfrm>
          <a:prstGeom prst="line">
            <a:avLst/>
          </a:prstGeom>
          <a:noFill/>
          <a:ln w="9525">
            <a:solidFill>
              <a:srgbClr val="C7C7D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108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deadline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4343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Projected completion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55778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External deadline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3931920" y="3108960"/>
            <a:ext cx="2651760" cy="914400"/>
          </a:xfrm>
          <a:prstGeom prst="roundRect">
            <a:avLst>
              <a:gd name="adj" fmla="val 12000"/>
            </a:avLst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31920" y="31089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2d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3931920" y="4343400"/>
            <a:ext cx="2651760" cy="914400"/>
          </a:xfrm>
          <a:prstGeom prst="roundRect">
            <a:avLst>
              <a:gd name="adj" fmla="val 12000"/>
            </a:avLst>
          </a:prstGeom>
          <a:solidFill>
            <a:srgbClr val="F3D98B"/>
          </a:solidFill>
          <a:ln w="12700">
            <a:solidFill>
              <a:srgbClr val="F3D98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931920" y="43434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Projected: 4d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583680" y="4343400"/>
            <a:ext cx="2651760" cy="914400"/>
          </a:xfrm>
          <a:prstGeom prst="roundRect">
            <a:avLst>
              <a:gd name="adj" fmla="val 12000"/>
            </a:avLst>
          </a:prstGeom>
          <a:solidFill>
            <a:srgbClr val="E9B949"/>
          </a:solidFill>
          <a:ln w="12700">
            <a:solidFill>
              <a:srgbClr val="E9B94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0" y="43434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2-day slip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931920" y="557784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D6D6E0"/>
          </a:solidFill>
          <a:ln w="12700">
            <a:solidFill>
              <a:srgbClr val="D6D6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931920" y="55778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Promised to customer: 5d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235440" y="5577840"/>
            <a:ext cx="1325880" cy="914400"/>
          </a:xfrm>
          <a:prstGeom prst="roundRect">
            <a:avLst>
              <a:gd name="adj" fmla="val 12000"/>
            </a:avLst>
          </a:prstGeom>
          <a:solidFill>
            <a:srgbClr val="F3D98B"/>
          </a:solidFill>
          <a:ln w="25400">
            <a:solidFill>
              <a:srgbClr val="E9B94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35440" y="557784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1d buffer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1005840" y="7178040"/>
            <a:ext cx="3200400" cy="685800"/>
          </a:xfrm>
          <a:prstGeom prst="roundRect">
            <a:avLst>
              <a:gd name="adj" fmla="val 50000"/>
            </a:avLst>
          </a:prstGeom>
          <a:solidFill>
            <a:srgbClr val="F9DADC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" y="717804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slip: 2 days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4434840" y="7178040"/>
            <a:ext cx="2743200" cy="685800"/>
          </a:xfrm>
          <a:prstGeom prst="roundRect">
            <a:avLst>
              <a:gd name="adj" fmla="val 50000"/>
            </a:avLst>
          </a:prstGeom>
          <a:solidFill>
            <a:srgbClr val="F3D98B"/>
          </a:solidFill>
          <a:ln w="12700">
            <a:solidFill>
              <a:srgbClr val="E9B94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34840" y="7178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1d buffer left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7406640" y="7178040"/>
            <a:ext cx="2743200" cy="685800"/>
          </a:xfrm>
          <a:prstGeom prst="roundRect">
            <a:avLst>
              <a:gd name="adj" fmla="val 50000"/>
            </a:avLst>
          </a:prstGeom>
          <a:solidFill>
            <a:srgbClr val="D3EEE1"/>
          </a:solidFill>
          <a:ln w="12700">
            <a:solidFill>
              <a:srgbClr val="3DBE8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06640" y="7178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Status: SAFE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" y="8275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6B6B7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Both deadlines are entered in the Order Setup modal on first load.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11338560" y="2286000"/>
            <a:ext cx="5943600" cy="6492240"/>
          </a:xfrm>
          <a:prstGeom prst="roundRect">
            <a:avLst>
              <a:gd name="adj" fmla="val 2154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1704320" y="25603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Buffer math</a:t>
            </a:r>
            <a:endParaRPr lang="en-US" sz="2400" dirty="0"/>
          </a:p>
        </p:txBody>
      </p:sp>
      <p:sp>
        <p:nvSpPr>
          <p:cNvPr id="37" name="Shape 35"/>
          <p:cNvSpPr/>
          <p:nvPr/>
        </p:nvSpPr>
        <p:spPr>
          <a:xfrm>
            <a:off x="11704320" y="3291840"/>
            <a:ext cx="5212080" cy="2834640"/>
          </a:xfrm>
          <a:prstGeom prst="roundRect">
            <a:avLst>
              <a:gd name="adj" fmla="val 4516"/>
            </a:avLst>
          </a:prstGeom>
          <a:solidFill>
            <a:srgbClr val="31313B"/>
          </a:solidFill>
          <a:ln w="12700">
            <a:solidFill>
              <a:srgbClr val="31313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1887200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internal_buffer =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1887200" y="39502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internal_deadline - projected_completion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1887200" y="43799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external_buffer =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1887200" y="48097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external_deadline - projected_completion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1887200" y="5239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buffer_status = external_buffer &gt; 0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1887200" y="5669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? "SAFE" : "AT_RISK"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11704320" y="64922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Worked example</a:t>
            </a:r>
            <a:endParaRPr lang="en-US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11704320" y="704088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internal_buffer = 2 − 4 = −2d</a:t>
            </a:r>
            <a:endParaRPr lang="en-US" sz="19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external_buffer = 5 − 4 = 1d</a:t>
            </a:r>
            <a:endParaRPr lang="en-US" sz="19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Amber chip: “1d buffer left”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" y="731520"/>
            <a:ext cx="1627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DEMO: FROM SPIKE TO ACTION</a:t>
            </a:r>
            <a:endParaRPr lang="en-US" sz="4400" dirty="0"/>
          </a:p>
        </p:txBody>
      </p:sp>
      <p:sp>
        <p:nvSpPr>
          <p:cNvPr id="100" name="Text 97"/>
          <p:cNvSpPr txBox="1"/>
          <p:nvPr/>
        </p:nvSpPr>
        <p:spPr>
          <a:xfrm>
            <a:off x="12527280" y="2148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if the Etch tool goes down?</a:t>
            </a:r>
            <a:endParaRPr lang="en-US" sz="2100" dirty="0"/>
          </a:p>
        </p:txBody>
      </p:sp>
      <p:sp>
        <p:nvSpPr>
          <p:cNvPr id="101" name="Shape 98"/>
          <p:cNvSpPr/>
          <p:nvPr/>
        </p:nvSpPr>
        <p:spPr>
          <a:xfrm>
            <a:off x="12527280" y="3182112"/>
            <a:ext cx="502920" cy="5029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12527280" y="3182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1600" dirty="0"/>
          </a:p>
        </p:txBody>
      </p:sp>
      <p:sp>
        <p:nvSpPr>
          <p:cNvPr id="103" name="Text 100"/>
          <p:cNvSpPr txBox="1"/>
          <p:nvPr/>
        </p:nvSpPr>
        <p:spPr>
          <a:xfrm>
            <a:off x="13258800" y="3154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Spike detected</a:t>
            </a:r>
            <a:endParaRPr lang="en-US" sz="2000" dirty="0"/>
          </a:p>
        </p:txBody>
      </p:sp>
      <p:sp>
        <p:nvSpPr>
          <p:cNvPr id="104" name="Text 101"/>
          <p:cNvSpPr txBox="1"/>
          <p:nvPr/>
        </p:nvSpPr>
        <p:spPr>
          <a:xfrm>
            <a:off x="13258800" y="36118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Etch flips to CRITICAL and its node pulses red</a:t>
            </a:r>
            <a:endParaRPr lang="en-US" sz="1600" dirty="0"/>
          </a:p>
        </p:txBody>
      </p:sp>
      <p:sp>
        <p:nvSpPr>
          <p:cNvPr id="105" name="Shape 102"/>
          <p:cNvSpPr/>
          <p:nvPr/>
        </p:nvSpPr>
        <p:spPr>
          <a:xfrm>
            <a:off x="12527280" y="4645152"/>
            <a:ext cx="502920" cy="5029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12527280" y="4645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600" dirty="0"/>
          </a:p>
        </p:txBody>
      </p:sp>
      <p:sp>
        <p:nvSpPr>
          <p:cNvPr id="107" name="Text 104"/>
          <p:cNvSpPr txBox="1"/>
          <p:nvPr/>
        </p:nvSpPr>
        <p:spPr>
          <a:xfrm>
            <a:off x="13258800" y="46177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Delay cascades</a:t>
            </a:r>
            <a:endParaRPr lang="en-US" sz="2000" dirty="0"/>
          </a:p>
        </p:txBody>
      </p:sp>
      <p:sp>
        <p:nvSpPr>
          <p:cNvPr id="108" name="Text 105"/>
          <p:cNvSpPr txBox="1"/>
          <p:nvPr/>
        </p:nvSpPr>
        <p:spPr>
          <a:xfrm>
            <a:off x="13258800" y="507492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Delay chips appear downstream, softened by spare capacity</a:t>
            </a:r>
            <a:endParaRPr lang="en-US" sz="1600" dirty="0"/>
          </a:p>
        </p:txBody>
      </p:sp>
      <p:sp>
        <p:nvSpPr>
          <p:cNvPr id="109" name="Shape 106"/>
          <p:cNvSpPr/>
          <p:nvPr/>
        </p:nvSpPr>
        <p:spPr>
          <a:xfrm>
            <a:off x="12527280" y="6108192"/>
            <a:ext cx="502920" cy="5029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110" name="Text 107"/>
          <p:cNvSpPr txBox="1"/>
          <p:nvPr/>
        </p:nvSpPr>
        <p:spPr>
          <a:xfrm>
            <a:off x="12527280" y="6108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600" dirty="0"/>
          </a:p>
        </p:txBody>
      </p:sp>
      <p:sp>
        <p:nvSpPr>
          <p:cNvPr id="111" name="Text 108"/>
          <p:cNvSpPr txBox="1"/>
          <p:nvPr/>
        </p:nvSpPr>
        <p:spPr>
          <a:xfrm>
            <a:off x="13258800" y="60807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Drill in</a:t>
            </a:r>
            <a:endParaRPr lang="en-US" sz="2000" dirty="0"/>
          </a:p>
        </p:txBody>
      </p:sp>
      <p:sp>
        <p:nvSpPr>
          <p:cNvPr id="112" name="Text 109"/>
          <p:cNvSpPr txBox="1"/>
          <p:nvPr/>
        </p:nvSpPr>
        <p:spPr>
          <a:xfrm>
            <a:off x="13258800" y="65379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Click a node for the five-part risk breakdown</a:t>
            </a:r>
            <a:endParaRPr lang="en-US" sz="1600" dirty="0"/>
          </a:p>
        </p:txBody>
      </p:sp>
      <p:sp>
        <p:nvSpPr>
          <p:cNvPr id="113" name="Shape 110"/>
          <p:cNvSpPr/>
          <p:nvPr/>
        </p:nvSpPr>
        <p:spPr>
          <a:xfrm>
            <a:off x="12527280" y="7571232"/>
            <a:ext cx="502920" cy="5029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114" name="Text 111"/>
          <p:cNvSpPr txBox="1"/>
          <p:nvPr/>
        </p:nvSpPr>
        <p:spPr>
          <a:xfrm>
            <a:off x="12527280" y="7571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600" dirty="0"/>
          </a:p>
        </p:txBody>
      </p:sp>
      <p:sp>
        <p:nvSpPr>
          <p:cNvPr id="115" name="Text 112"/>
          <p:cNvSpPr txBox="1"/>
          <p:nvPr/>
        </p:nvSpPr>
        <p:spPr>
          <a:xfrm>
            <a:off x="13258800" y="75438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Apply a fix</a:t>
            </a:r>
            <a:endParaRPr lang="en-US" sz="2000" dirty="0"/>
          </a:p>
        </p:txBody>
      </p:sp>
      <p:sp>
        <p:nvSpPr>
          <p:cNvPr id="116" name="Text 113"/>
          <p:cNvSpPr txBox="1"/>
          <p:nvPr/>
        </p:nvSpPr>
        <p:spPr>
          <a:xfrm>
            <a:off x="13258800" y="80010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Speed up CMP; the line re-renders with lower risk</a:t>
            </a:r>
            <a:endParaRPr lang="en-US" sz="1600" dirty="0"/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ADEBA0DB-8EF1-CE6E-6E7F-3EC897BEF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2331720"/>
            <a:ext cx="11330835" cy="58424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" y="731520"/>
            <a:ext cx="1627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ASSUMPTIONS &amp; SCOPE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1874520"/>
            <a:ext cx="1627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Stated up front in a README banner on first login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05840" y="2606040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2761488"/>
            <a:ext cx="457200" cy="45720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60604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data is simulated and streamed every 3 seconds to mimic live MES/WIP feeds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05840" y="3502152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4440" y="3657600"/>
            <a:ext cx="457200" cy="45720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44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3502152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process is a linear chain of 8 stations, with no re-entrant loops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005840" y="4398264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4553712"/>
            <a:ext cx="457200" cy="45720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34440" y="4553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4398264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station has one machine; multi-tool stations are out of scope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005840" y="5294376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4440" y="5449824"/>
            <a:ext cx="457200" cy="45720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34440" y="5449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965960" y="5294376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 order size is 200 chips, with cycle times defined in the seed data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005840" y="6190488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34440" y="6345936"/>
            <a:ext cx="457200" cy="45720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6345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965960" y="6190488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Everything is measured in hours; currency, calendar days and timezone are abstracted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005840" y="7086600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34440" y="7242048"/>
            <a:ext cx="457200" cy="45720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234440" y="7242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965960" y="708660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Geopolitical risk is a static material → supplier-country lookup, refreshed manually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1005840" y="7982712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1E1EA"/>
          </a:solidFill>
          <a:ln w="9525">
            <a:solidFill>
              <a:srgbClr val="C7C7D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34440" y="8138160"/>
            <a:ext cx="457200" cy="45720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34440" y="8138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965960" y="7982712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supplier API integration: supply-chain data is seeded JSON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11795760" y="2606040"/>
            <a:ext cx="5486400" cy="6135624"/>
          </a:xfrm>
          <a:prstGeom prst="roundRect">
            <a:avLst>
              <a:gd name="adj" fmla="val 2333"/>
            </a:avLst>
          </a:prstGeom>
          <a:solidFill>
            <a:srgbClr val="31313B"/>
          </a:solidFill>
          <a:ln w="12700">
            <a:solidFill>
              <a:srgbClr val="31313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216152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 of scope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12161520" y="370332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5484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✕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12664440" y="370332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Signup, forgot password, OAuth or role management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12161520" y="4636008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5484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✕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12664440" y="46360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real database or external APIs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12161520" y="5568696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5484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✕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12664440" y="556869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Charts, gauges or sparklines on the main dashboard</a:t>
            </a:r>
            <a:endParaRPr lang="en-US" sz="1700" dirty="0"/>
          </a:p>
        </p:txBody>
      </p:sp>
      <p:sp>
        <p:nvSpPr>
          <p:cNvPr id="40" name="Text 38"/>
          <p:cNvSpPr txBox="1"/>
          <p:nvPr/>
        </p:nvSpPr>
        <p:spPr>
          <a:xfrm>
            <a:off x="12161520" y="6501384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5484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✕</a:t>
            </a:r>
            <a:endParaRPr lang="en-US" sz="1700" dirty="0"/>
          </a:p>
        </p:txBody>
      </p:sp>
      <p:sp>
        <p:nvSpPr>
          <p:cNvPr id="41" name="Text 39"/>
          <p:cNvSpPr txBox="1"/>
          <p:nvPr/>
        </p:nvSpPr>
        <p:spPr>
          <a:xfrm>
            <a:off x="12664440" y="650138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Marketing copy or onboarding tours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12161520" y="7434072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5484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✕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12664440" y="743407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More than 8 stations in the demo flow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" y="731520"/>
            <a:ext cx="1627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TEAM ALCHEMIST: BUILT FOR THE FAB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1874520"/>
            <a:ext cx="1627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Four engineers, one integrated system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05840" y="2651760"/>
            <a:ext cx="1645920" cy="16459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65176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AM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5720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Astha Makwana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51663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24DIT030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623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Bottleneck Detection &amp; Outage Simulation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20640" y="2651760"/>
            <a:ext cx="1645920" cy="16459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0" y="265176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YB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45720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Yashvi Bhadani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51663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24DIT004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5623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Supply Chain Risk Intelligence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235440" y="2651760"/>
            <a:ext cx="1645920" cy="16459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35440" y="265176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MC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9235440" y="45720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Manthan Chavda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51663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24DIT009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5623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Impact Engine &amp; Dashboard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3350240" y="2651760"/>
            <a:ext cx="1645920" cy="1645920"/>
          </a:xfrm>
          <a:prstGeom prst="ellipse">
            <a:avLst/>
          </a:prstGeom>
          <a:solidFill>
            <a:srgbClr val="1B1B27"/>
          </a:solidFill>
          <a:ln w="12700">
            <a:solidFill>
              <a:srgbClr val="1B1B2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350240" y="265176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RD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13350240" y="45720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Radhika Dholakiya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3350240" y="51663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26MCA042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13350240" y="562356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Project Management &amp; Presentation Lead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05840" y="6949440"/>
            <a:ext cx="11155680" cy="2377440"/>
          </a:xfrm>
          <a:prstGeom prst="roundRect">
            <a:avLst>
              <a:gd name="adj" fmla="val 7692"/>
            </a:avLst>
          </a:prstGeom>
          <a:solidFill>
            <a:srgbClr val="31313B"/>
          </a:solidFill>
          <a:ln w="12700">
            <a:solidFill>
              <a:srgbClr val="3131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71780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 Stack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77724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Frontend: React · TypeScript · Vite · TailwindCSS · shadcn/ui</a:t>
            </a:r>
            <a:endParaRPr lang="en-US" sz="2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Visuals &amp; state: React Flow · Recharts · Lucide · Zustand</a:t>
            </a:r>
            <a:endParaRPr lang="en-US" sz="2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Backend: Node.js · Express · Socket.IO · JWT · in-memory store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0" y="7498080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data used in this system is simulated. No real-world operational facts are claimed.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938</Words>
  <Application>Microsoft Office PowerPoint</Application>
  <PresentationFormat>Custom</PresentationFormat>
  <Paragraphs>173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Raleway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FabPulse: Fab Bottleneck &amp; Supply-Chain Risk Dashboard</dc:title>
  <dc:subject>PptxGenJS Presentation</dc:subject>
  <dc:creator>Team Alchemist</dc:creator>
  <cp:lastModifiedBy>Manthan Chavda</cp:lastModifiedBy>
  <cp:revision>2</cp:revision>
  <dcterms:created xsi:type="dcterms:W3CDTF">2026-09-19T09:14:47Z</dcterms:created>
  <dcterms:modified xsi:type="dcterms:W3CDTF">2026-09-19T09:21:17Z</dcterms:modified>
</cp:coreProperties>
</file>