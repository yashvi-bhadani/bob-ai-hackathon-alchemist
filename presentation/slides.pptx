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" name="Google Shape;98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9" name="Google Shape;99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1" name="Google Shape;101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5" name="Google Shape;125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6" name="Google Shape;126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28" name="Google Shape;128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9" name="Google Shape;129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70" name="Google Shape;170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08" name="Google Shape;208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4" name="Google Shape;244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46" name="Google Shape;246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5" name="Google Shape;275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6" name="Google Shape;276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78" name="Google Shape;278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9" name="Google Shape;279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6" name="Google Shape;306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7" name="Google Shape;307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309" name="Google Shape;309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0" name="Google Shape;310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ECECF3"/>
          </a:solid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992991" y="3325368"/>
            <a:ext cx="16315868" cy="1811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54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FAB BOTTLENECK &amp; SUPPLY CHAIN RISK ADVISOR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92991" y="5618550"/>
            <a:ext cx="16315868" cy="1312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IBM Bob AI Innovation Hackathon  ·  Team Alchemist</a:t>
            </a:r>
            <a:endParaRPr/>
          </a:p>
          <a:p>
            <a:pPr indent="0" lvl="0" marL="0" marR="0" rtl="0" algn="l">
              <a:lnSpc>
                <a:spcPct val="159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Astha Makwana  |  Yashvi Bhadani  |  Manthan Chavda  |  Radhika Dholakiya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ECECF3"/>
          </a:solidFill>
          <a:ln>
            <a:noFill/>
          </a:ln>
        </p:spPr>
      </p:sp>
      <p:sp>
        <p:nvSpPr>
          <p:cNvPr id="105" name="Google Shape;105;p1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</p:sp>
      <p:sp>
        <p:nvSpPr>
          <p:cNvPr id="106" name="Google Shape;106;p14"/>
          <p:cNvSpPr txBox="1"/>
          <p:nvPr/>
        </p:nvSpPr>
        <p:spPr>
          <a:xfrm>
            <a:off x="992991" y="794042"/>
            <a:ext cx="16315868" cy="826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3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PROBLEM: CASCADING RISK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2991" y="2176091"/>
            <a:ext cx="7846495" cy="417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6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 manufacturing bottleneck is not an isolated event.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92991" y="2757164"/>
            <a:ext cx="7846495" cy="123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When one process step fails, the consequences ripple across the entire fab floor and into the supply chain — compounding risk at every layer.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9457592" y="2195141"/>
            <a:ext cx="6015800" cy="3074422"/>
          </a:xfrm>
          <a:custGeom>
            <a:rect b="b" l="l" r="r" t="t"/>
            <a:pathLst>
              <a:path extrusionOk="0" h="4099230" w="8021066">
                <a:moveTo>
                  <a:pt x="0" y="159349"/>
                </a:moveTo>
                <a:cubicBezTo>
                  <a:pt x="0" y="71273"/>
                  <a:pt x="101354" y="0"/>
                  <a:pt x="226602" y="0"/>
                </a:cubicBezTo>
                <a:lnTo>
                  <a:pt x="7794465" y="0"/>
                </a:lnTo>
                <a:cubicBezTo>
                  <a:pt x="7919514" y="0"/>
                  <a:pt x="8021066" y="71273"/>
                  <a:pt x="8021066" y="159349"/>
                </a:cubicBezTo>
                <a:lnTo>
                  <a:pt x="8021066" y="3939889"/>
                </a:lnTo>
                <a:cubicBezTo>
                  <a:pt x="8021066" y="4027825"/>
                  <a:pt x="7919713" y="4099230"/>
                  <a:pt x="7794465" y="4099230"/>
                </a:cubicBezTo>
                <a:lnTo>
                  <a:pt x="226602" y="4099230"/>
                </a:lnTo>
                <a:cubicBezTo>
                  <a:pt x="101354" y="4099097"/>
                  <a:pt x="0" y="4027825"/>
                  <a:pt x="0" y="3939889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cap="sq" cmpd="sng" w="2857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755772" y="2804789"/>
            <a:ext cx="3240500" cy="816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Material demand spikes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725516" y="4106904"/>
            <a:ext cx="5076032" cy="72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Unplanned surges expose supplier dependencies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9457592" y="6048894"/>
            <a:ext cx="6015838" cy="3074422"/>
          </a:xfrm>
          <a:custGeom>
            <a:rect b="b" l="l" r="r" t="t"/>
            <a:pathLst>
              <a:path extrusionOk="0" h="4099230" w="8021117">
                <a:moveTo>
                  <a:pt x="0" y="159349"/>
                </a:moveTo>
                <a:cubicBezTo>
                  <a:pt x="0" y="71273"/>
                  <a:pt x="101350" y="0"/>
                  <a:pt x="226593" y="0"/>
                </a:cubicBezTo>
                <a:lnTo>
                  <a:pt x="7794553" y="0"/>
                </a:lnTo>
                <a:cubicBezTo>
                  <a:pt x="7919597" y="0"/>
                  <a:pt x="8021117" y="71273"/>
                  <a:pt x="8021117" y="159349"/>
                </a:cubicBezTo>
                <a:lnTo>
                  <a:pt x="8021117" y="3939889"/>
                </a:lnTo>
                <a:cubicBezTo>
                  <a:pt x="8021117" y="4027825"/>
                  <a:pt x="7919796" y="4099230"/>
                  <a:pt x="7794553" y="4099230"/>
                </a:cubicBezTo>
                <a:lnTo>
                  <a:pt x="226593" y="4099230"/>
                </a:lnTo>
                <a:cubicBezTo>
                  <a:pt x="101350" y="4099097"/>
                  <a:pt x="0" y="4027825"/>
                  <a:pt x="0" y="3939889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cap="sq" cmpd="sng" w="2857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755772" y="6450606"/>
            <a:ext cx="3240653" cy="816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Inventory coverage shrinks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725516" y="7688918"/>
            <a:ext cx="5459427" cy="72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Buffer stock depletes faster than procurement can respond</a:t>
            </a:r>
            <a:endParaRPr/>
          </a:p>
        </p:txBody>
      </p:sp>
      <p:sp>
        <p:nvSpPr>
          <p:cNvPr descr="preencoded.png" id="115" name="Google Shape;115;p14"/>
          <p:cNvSpPr/>
          <p:nvPr/>
        </p:nvSpPr>
        <p:spPr>
          <a:xfrm>
            <a:off x="837238" y="4370260"/>
            <a:ext cx="382924" cy="382934"/>
          </a:xfrm>
          <a:custGeom>
            <a:rect b="b" l="l" r="r" t="t"/>
            <a:pathLst>
              <a:path extrusionOk="0"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318" r="-7320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1822742" y="4343243"/>
            <a:ext cx="7184603" cy="417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Production backlog accumulates</a:t>
            </a:r>
            <a:endParaRPr/>
          </a:p>
        </p:txBody>
      </p:sp>
      <p:sp>
        <p:nvSpPr>
          <p:cNvPr descr="preencoded.png" id="117" name="Google Shape;117;p14"/>
          <p:cNvSpPr/>
          <p:nvPr/>
        </p:nvSpPr>
        <p:spPr>
          <a:xfrm>
            <a:off x="837238" y="7203143"/>
            <a:ext cx="382924" cy="382934"/>
          </a:xfrm>
          <a:custGeom>
            <a:rect b="b" l="l" r="r" t="t"/>
            <a:pathLst>
              <a:path extrusionOk="0"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318" r="-7320" t="0"/>
            </a:stretch>
          </a:blipFill>
          <a:ln>
            <a:noFill/>
          </a:ln>
        </p:spPr>
      </p:sp>
      <p:sp>
        <p:nvSpPr>
          <p:cNvPr id="118" name="Google Shape;118;p14"/>
          <p:cNvSpPr txBox="1"/>
          <p:nvPr/>
        </p:nvSpPr>
        <p:spPr>
          <a:xfrm>
            <a:off x="1822742" y="7367592"/>
            <a:ext cx="7184603" cy="417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Downstream processes delay</a:t>
            </a:r>
            <a:endParaRPr/>
          </a:p>
        </p:txBody>
      </p:sp>
      <p:sp>
        <p:nvSpPr>
          <p:cNvPr descr="preencoded.png" id="119" name="Google Shape;119;p14"/>
          <p:cNvSpPr/>
          <p:nvPr/>
        </p:nvSpPr>
        <p:spPr>
          <a:xfrm>
            <a:off x="837238" y="5620060"/>
            <a:ext cx="382924" cy="382934"/>
          </a:xfrm>
          <a:custGeom>
            <a:rect b="b" l="l" r="r" t="t"/>
            <a:pathLst>
              <a:path extrusionOk="0" h="382934" w="38292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318" r="-7320" t="0"/>
            </a:stretch>
          </a:blipFill>
          <a:ln>
            <a:noFill/>
          </a:ln>
        </p:spPr>
      </p:sp>
      <p:sp>
        <p:nvSpPr>
          <p:cNvPr id="120" name="Google Shape;120;p14"/>
          <p:cNvSpPr txBox="1"/>
          <p:nvPr/>
        </p:nvSpPr>
        <p:spPr>
          <a:xfrm>
            <a:off x="1822742" y="5593042"/>
            <a:ext cx="7184603" cy="417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Supplier concentration becomes critical</a:t>
            </a:r>
            <a:endParaRPr/>
          </a:p>
        </p:txBody>
      </p:sp>
      <p:sp>
        <p:nvSpPr>
          <p:cNvPr descr="preencoded.png" id="121" name="Google Shape;121;p14"/>
          <p:cNvSpPr/>
          <p:nvPr/>
        </p:nvSpPr>
        <p:spPr>
          <a:xfrm>
            <a:off x="801529" y="8706321"/>
            <a:ext cx="382924" cy="382934"/>
          </a:xfrm>
          <a:custGeom>
            <a:rect b="b" l="l" r="r" t="t"/>
            <a:pathLst>
              <a:path extrusionOk="0"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318" r="-7320" t="0"/>
            </a:stretch>
          </a:blipFill>
          <a:ln>
            <a:noFill/>
          </a:ln>
        </p:spPr>
      </p:sp>
      <p:sp>
        <p:nvSpPr>
          <p:cNvPr id="122" name="Google Shape;122;p14"/>
          <p:cNvSpPr txBox="1"/>
          <p:nvPr/>
        </p:nvSpPr>
        <p:spPr>
          <a:xfrm>
            <a:off x="1822742" y="8671336"/>
            <a:ext cx="7184603" cy="417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Operational risk compounds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ECECF3"/>
          </a:solid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</p:sp>
      <p:sp>
        <p:nvSpPr>
          <p:cNvPr id="133" name="Google Shape;133;p15"/>
          <p:cNvSpPr txBox="1"/>
          <p:nvPr/>
        </p:nvSpPr>
        <p:spPr>
          <a:xfrm>
            <a:off x="992991" y="946861"/>
            <a:ext cx="16315868" cy="7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28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OUR SOLUTION: ONE DECISION LAYER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35438" y="2009737"/>
            <a:ext cx="17230954" cy="364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Detect → Quantify → Simulate → Trace → Assess → Recommend → Explain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988219" y="2574055"/>
            <a:ext cx="8076533" cy="2135409"/>
          </a:xfrm>
          <a:custGeom>
            <a:rect b="b" l="l" r="r" t="t"/>
            <a:pathLst>
              <a:path extrusionOk="0" h="2847213" w="10768711">
                <a:moveTo>
                  <a:pt x="0" y="127635"/>
                </a:moveTo>
                <a:cubicBezTo>
                  <a:pt x="0" y="57150"/>
                  <a:pt x="57150" y="0"/>
                  <a:pt x="127635" y="0"/>
                </a:cubicBezTo>
                <a:lnTo>
                  <a:pt x="10641076" y="0"/>
                </a:lnTo>
                <a:cubicBezTo>
                  <a:pt x="10711561" y="0"/>
                  <a:pt x="10768711" y="57150"/>
                  <a:pt x="10768711" y="127635"/>
                </a:cubicBezTo>
                <a:lnTo>
                  <a:pt x="10768711" y="2719578"/>
                </a:lnTo>
                <a:cubicBezTo>
                  <a:pt x="10768711" y="2790063"/>
                  <a:pt x="10711561" y="2847213"/>
                  <a:pt x="10641076" y="2847213"/>
                </a:cubicBezTo>
                <a:lnTo>
                  <a:pt x="127635" y="2847213"/>
                </a:lnTo>
                <a:cubicBezTo>
                  <a:pt x="57150" y="2847213"/>
                  <a:pt x="0" y="2790063"/>
                  <a:pt x="0" y="2719578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1229506" y="2815352"/>
            <a:ext cx="680942" cy="681038"/>
          </a:xfrm>
          <a:custGeom>
            <a:rect b="b" l="l" r="r" t="t"/>
            <a:pathLst>
              <a:path extrusionOk="0" h="908050" w="907923">
                <a:moveTo>
                  <a:pt x="0" y="454025"/>
                </a:moveTo>
                <a:cubicBezTo>
                  <a:pt x="0" y="203200"/>
                  <a:pt x="203200" y="0"/>
                  <a:pt x="454025" y="0"/>
                </a:cubicBezTo>
                <a:cubicBezTo>
                  <a:pt x="704850" y="0"/>
                  <a:pt x="907923" y="203200"/>
                  <a:pt x="907923" y="454025"/>
                </a:cubicBezTo>
                <a:cubicBezTo>
                  <a:pt x="907923" y="704850"/>
                  <a:pt x="704723" y="908050"/>
                  <a:pt x="453898" y="908050"/>
                </a:cubicBezTo>
                <a:cubicBezTo>
                  <a:pt x="203073" y="908050"/>
                  <a:pt x="0" y="704723"/>
                  <a:pt x="0" y="454025"/>
                </a:cubicBezTo>
                <a:close/>
              </a:path>
            </a:pathLst>
          </a:cu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37" name="Google Shape;137;p15"/>
          <p:cNvSpPr/>
          <p:nvPr/>
        </p:nvSpPr>
        <p:spPr>
          <a:xfrm>
            <a:off x="1416720" y="3002575"/>
            <a:ext cx="306372" cy="306381"/>
          </a:xfrm>
          <a:custGeom>
            <a:rect b="b" l="l" r="r" t="t"/>
            <a:pathLst>
              <a:path extrusionOk="0" h="306381" w="306372">
                <a:moveTo>
                  <a:pt x="0" y="0"/>
                </a:moveTo>
                <a:lnTo>
                  <a:pt x="306372" y="0"/>
                </a:lnTo>
                <a:lnTo>
                  <a:pt x="306372" y="306381"/>
                </a:lnTo>
                <a:lnTo>
                  <a:pt x="0" y="306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138" name="Google Shape;138;p15"/>
          <p:cNvSpPr txBox="1"/>
          <p:nvPr/>
        </p:nvSpPr>
        <p:spPr>
          <a:xfrm>
            <a:off x="1229506" y="3658838"/>
            <a:ext cx="7594044" cy="3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DETECT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229506" y="4103303"/>
            <a:ext cx="7594044" cy="364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Identify manufacturing bottlenecks and supply risks instantly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9236859" y="2574055"/>
            <a:ext cx="8076724" cy="2135409"/>
          </a:xfrm>
          <a:custGeom>
            <a:rect b="b" l="l" r="r" t="t"/>
            <a:pathLst>
              <a:path extrusionOk="0" h="2847213" w="10768965">
                <a:moveTo>
                  <a:pt x="0" y="127635"/>
                </a:moveTo>
                <a:cubicBezTo>
                  <a:pt x="0" y="57150"/>
                  <a:pt x="57150" y="0"/>
                  <a:pt x="127635" y="0"/>
                </a:cubicBezTo>
                <a:lnTo>
                  <a:pt x="10641330" y="0"/>
                </a:lnTo>
                <a:cubicBezTo>
                  <a:pt x="10711815" y="0"/>
                  <a:pt x="10768965" y="57150"/>
                  <a:pt x="10768965" y="127635"/>
                </a:cubicBezTo>
                <a:lnTo>
                  <a:pt x="10768965" y="2719578"/>
                </a:lnTo>
                <a:cubicBezTo>
                  <a:pt x="10768965" y="2790063"/>
                  <a:pt x="10711815" y="2847213"/>
                  <a:pt x="10641330" y="2847213"/>
                </a:cubicBezTo>
                <a:lnTo>
                  <a:pt x="127635" y="2847213"/>
                </a:lnTo>
                <a:cubicBezTo>
                  <a:pt x="57150" y="2847213"/>
                  <a:pt x="0" y="2790063"/>
                  <a:pt x="0" y="2719578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9478147" y="2815352"/>
            <a:ext cx="680942" cy="681038"/>
          </a:xfrm>
          <a:custGeom>
            <a:rect b="b" l="l" r="r" t="t"/>
            <a:pathLst>
              <a:path extrusionOk="0" h="908050" w="907923">
                <a:moveTo>
                  <a:pt x="0" y="454025"/>
                </a:moveTo>
                <a:cubicBezTo>
                  <a:pt x="0" y="203200"/>
                  <a:pt x="203200" y="0"/>
                  <a:pt x="454025" y="0"/>
                </a:cubicBezTo>
                <a:cubicBezTo>
                  <a:pt x="704850" y="0"/>
                  <a:pt x="907923" y="203200"/>
                  <a:pt x="907923" y="454025"/>
                </a:cubicBezTo>
                <a:cubicBezTo>
                  <a:pt x="907923" y="704850"/>
                  <a:pt x="704723" y="908050"/>
                  <a:pt x="453898" y="908050"/>
                </a:cubicBezTo>
                <a:cubicBezTo>
                  <a:pt x="203073" y="908050"/>
                  <a:pt x="0" y="704723"/>
                  <a:pt x="0" y="454025"/>
                </a:cubicBezTo>
                <a:close/>
              </a:path>
            </a:pathLst>
          </a:cu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2" name="Google Shape;142;p15"/>
          <p:cNvSpPr/>
          <p:nvPr/>
        </p:nvSpPr>
        <p:spPr>
          <a:xfrm>
            <a:off x="9665360" y="3002575"/>
            <a:ext cx="306372" cy="306381"/>
          </a:xfrm>
          <a:custGeom>
            <a:rect b="b" l="l" r="r" t="t"/>
            <a:pathLst>
              <a:path extrusionOk="0" h="306381" w="306372">
                <a:moveTo>
                  <a:pt x="0" y="0"/>
                </a:moveTo>
                <a:lnTo>
                  <a:pt x="306372" y="0"/>
                </a:lnTo>
                <a:lnTo>
                  <a:pt x="306372" y="306381"/>
                </a:lnTo>
                <a:lnTo>
                  <a:pt x="0" y="306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573" l="0" r="0" t="-7573"/>
            </a:stretch>
          </a:blipFill>
          <a:ln>
            <a:noFill/>
          </a:ln>
        </p:spPr>
      </p:sp>
      <p:sp>
        <p:nvSpPr>
          <p:cNvPr id="143" name="Google Shape;143;p15"/>
          <p:cNvSpPr txBox="1"/>
          <p:nvPr/>
        </p:nvSpPr>
        <p:spPr>
          <a:xfrm>
            <a:off x="9478147" y="3658838"/>
            <a:ext cx="7594187" cy="3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QUANTIFY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478147" y="4103303"/>
            <a:ext cx="7594187" cy="364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Calculate utilization, WIP pressure, capacity pressure, backlog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988219" y="4881505"/>
            <a:ext cx="8076533" cy="2135409"/>
          </a:xfrm>
          <a:custGeom>
            <a:rect b="b" l="l" r="r" t="t"/>
            <a:pathLst>
              <a:path extrusionOk="0" h="2847213" w="10768711">
                <a:moveTo>
                  <a:pt x="0" y="127635"/>
                </a:moveTo>
                <a:cubicBezTo>
                  <a:pt x="0" y="57150"/>
                  <a:pt x="57150" y="0"/>
                  <a:pt x="127635" y="0"/>
                </a:cubicBezTo>
                <a:lnTo>
                  <a:pt x="10641076" y="0"/>
                </a:lnTo>
                <a:cubicBezTo>
                  <a:pt x="10711561" y="0"/>
                  <a:pt x="10768711" y="57150"/>
                  <a:pt x="10768711" y="127635"/>
                </a:cubicBezTo>
                <a:lnTo>
                  <a:pt x="10768711" y="2719578"/>
                </a:lnTo>
                <a:cubicBezTo>
                  <a:pt x="10768711" y="2790063"/>
                  <a:pt x="10711561" y="2847213"/>
                  <a:pt x="10641076" y="2847213"/>
                </a:cubicBezTo>
                <a:lnTo>
                  <a:pt x="127635" y="2847213"/>
                </a:lnTo>
                <a:cubicBezTo>
                  <a:pt x="57150" y="2847213"/>
                  <a:pt x="0" y="2790063"/>
                  <a:pt x="0" y="2719578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1229506" y="5122793"/>
            <a:ext cx="680942" cy="681038"/>
          </a:xfrm>
          <a:custGeom>
            <a:rect b="b" l="l" r="r" t="t"/>
            <a:pathLst>
              <a:path extrusionOk="0" h="908050" w="907923">
                <a:moveTo>
                  <a:pt x="0" y="454025"/>
                </a:moveTo>
                <a:cubicBezTo>
                  <a:pt x="0" y="203200"/>
                  <a:pt x="203200" y="0"/>
                  <a:pt x="454025" y="0"/>
                </a:cubicBezTo>
                <a:cubicBezTo>
                  <a:pt x="704850" y="0"/>
                  <a:pt x="907923" y="203200"/>
                  <a:pt x="907923" y="454025"/>
                </a:cubicBezTo>
                <a:cubicBezTo>
                  <a:pt x="907923" y="704850"/>
                  <a:pt x="704723" y="908050"/>
                  <a:pt x="453898" y="908050"/>
                </a:cubicBezTo>
                <a:cubicBezTo>
                  <a:pt x="203073" y="908050"/>
                  <a:pt x="0" y="704723"/>
                  <a:pt x="0" y="454025"/>
                </a:cubicBezTo>
                <a:close/>
              </a:path>
            </a:pathLst>
          </a:cu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7" name="Google Shape;147;p15"/>
          <p:cNvSpPr/>
          <p:nvPr/>
        </p:nvSpPr>
        <p:spPr>
          <a:xfrm>
            <a:off x="1416720" y="5310016"/>
            <a:ext cx="306372" cy="306381"/>
          </a:xfrm>
          <a:custGeom>
            <a:rect b="b" l="l" r="r" t="t"/>
            <a:pathLst>
              <a:path extrusionOk="0" h="306381" w="306372">
                <a:moveTo>
                  <a:pt x="0" y="0"/>
                </a:moveTo>
                <a:lnTo>
                  <a:pt x="306372" y="0"/>
                </a:lnTo>
                <a:lnTo>
                  <a:pt x="306372" y="306381"/>
                </a:lnTo>
                <a:lnTo>
                  <a:pt x="0" y="306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148" name="Google Shape;148;p15"/>
          <p:cNvSpPr txBox="1"/>
          <p:nvPr/>
        </p:nvSpPr>
        <p:spPr>
          <a:xfrm>
            <a:off x="1229506" y="5966279"/>
            <a:ext cx="7594044" cy="3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SIMULATE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229506" y="6410754"/>
            <a:ext cx="7594044" cy="364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Model outage duration, recovery time, downstream impact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9236859" y="4881505"/>
            <a:ext cx="8076724" cy="2135409"/>
          </a:xfrm>
          <a:custGeom>
            <a:rect b="b" l="l" r="r" t="t"/>
            <a:pathLst>
              <a:path extrusionOk="0" h="2847213" w="10768965">
                <a:moveTo>
                  <a:pt x="0" y="127635"/>
                </a:moveTo>
                <a:cubicBezTo>
                  <a:pt x="0" y="57150"/>
                  <a:pt x="57150" y="0"/>
                  <a:pt x="127635" y="0"/>
                </a:cubicBezTo>
                <a:lnTo>
                  <a:pt x="10641330" y="0"/>
                </a:lnTo>
                <a:cubicBezTo>
                  <a:pt x="10711815" y="0"/>
                  <a:pt x="10768965" y="57150"/>
                  <a:pt x="10768965" y="127635"/>
                </a:cubicBezTo>
                <a:lnTo>
                  <a:pt x="10768965" y="2719578"/>
                </a:lnTo>
                <a:cubicBezTo>
                  <a:pt x="10768965" y="2790063"/>
                  <a:pt x="10711815" y="2847213"/>
                  <a:pt x="10641330" y="2847213"/>
                </a:cubicBezTo>
                <a:lnTo>
                  <a:pt x="127635" y="2847213"/>
                </a:lnTo>
                <a:cubicBezTo>
                  <a:pt x="57150" y="2847213"/>
                  <a:pt x="0" y="2790063"/>
                  <a:pt x="0" y="2719578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9478147" y="5122793"/>
            <a:ext cx="680942" cy="681038"/>
          </a:xfrm>
          <a:custGeom>
            <a:rect b="b" l="l" r="r" t="t"/>
            <a:pathLst>
              <a:path extrusionOk="0" h="908050" w="907923">
                <a:moveTo>
                  <a:pt x="0" y="454025"/>
                </a:moveTo>
                <a:cubicBezTo>
                  <a:pt x="0" y="203200"/>
                  <a:pt x="203200" y="0"/>
                  <a:pt x="454025" y="0"/>
                </a:cubicBezTo>
                <a:cubicBezTo>
                  <a:pt x="704850" y="0"/>
                  <a:pt x="907923" y="203200"/>
                  <a:pt x="907923" y="454025"/>
                </a:cubicBezTo>
                <a:cubicBezTo>
                  <a:pt x="907923" y="704850"/>
                  <a:pt x="704723" y="908050"/>
                  <a:pt x="453898" y="908050"/>
                </a:cubicBezTo>
                <a:cubicBezTo>
                  <a:pt x="203073" y="908050"/>
                  <a:pt x="0" y="704723"/>
                  <a:pt x="0" y="454025"/>
                </a:cubicBezTo>
                <a:close/>
              </a:path>
            </a:pathLst>
          </a:cu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52" name="Google Shape;152;p15"/>
          <p:cNvSpPr/>
          <p:nvPr/>
        </p:nvSpPr>
        <p:spPr>
          <a:xfrm>
            <a:off x="9665360" y="5310016"/>
            <a:ext cx="306372" cy="306381"/>
          </a:xfrm>
          <a:custGeom>
            <a:rect b="b" l="l" r="r" t="t"/>
            <a:pathLst>
              <a:path extrusionOk="0" h="306381" w="306372">
                <a:moveTo>
                  <a:pt x="0" y="0"/>
                </a:moveTo>
                <a:lnTo>
                  <a:pt x="306372" y="0"/>
                </a:lnTo>
                <a:lnTo>
                  <a:pt x="306372" y="306381"/>
                </a:lnTo>
                <a:lnTo>
                  <a:pt x="0" y="306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3031" r="-3031" t="0"/>
            </a:stretch>
          </a:blipFill>
          <a:ln>
            <a:noFill/>
          </a:ln>
        </p:spPr>
      </p:sp>
      <p:sp>
        <p:nvSpPr>
          <p:cNvPr id="153" name="Google Shape;153;p15"/>
          <p:cNvSpPr txBox="1"/>
          <p:nvPr/>
        </p:nvSpPr>
        <p:spPr>
          <a:xfrm>
            <a:off x="9478147" y="5966279"/>
            <a:ext cx="7594187" cy="3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TRACE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478147" y="6410754"/>
            <a:ext cx="7594187" cy="364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Follow process and material dependencies end-to-end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988219" y="7188956"/>
            <a:ext cx="8076533" cy="2135409"/>
          </a:xfrm>
          <a:custGeom>
            <a:rect b="b" l="l" r="r" t="t"/>
            <a:pathLst>
              <a:path extrusionOk="0" h="2847213" w="10768711">
                <a:moveTo>
                  <a:pt x="0" y="127635"/>
                </a:moveTo>
                <a:cubicBezTo>
                  <a:pt x="0" y="57150"/>
                  <a:pt x="57150" y="0"/>
                  <a:pt x="127635" y="0"/>
                </a:cubicBezTo>
                <a:lnTo>
                  <a:pt x="10641076" y="0"/>
                </a:lnTo>
                <a:cubicBezTo>
                  <a:pt x="10711561" y="0"/>
                  <a:pt x="10768711" y="57150"/>
                  <a:pt x="10768711" y="127635"/>
                </a:cubicBezTo>
                <a:lnTo>
                  <a:pt x="10768711" y="2719578"/>
                </a:lnTo>
                <a:cubicBezTo>
                  <a:pt x="10768711" y="2790063"/>
                  <a:pt x="10711561" y="2847213"/>
                  <a:pt x="10641076" y="2847213"/>
                </a:cubicBezTo>
                <a:lnTo>
                  <a:pt x="127635" y="2847213"/>
                </a:lnTo>
                <a:cubicBezTo>
                  <a:pt x="57150" y="2847213"/>
                  <a:pt x="0" y="2790063"/>
                  <a:pt x="0" y="2719578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229506" y="7430243"/>
            <a:ext cx="680942" cy="681038"/>
          </a:xfrm>
          <a:custGeom>
            <a:rect b="b" l="l" r="r" t="t"/>
            <a:pathLst>
              <a:path extrusionOk="0" h="908050" w="907923">
                <a:moveTo>
                  <a:pt x="0" y="454025"/>
                </a:moveTo>
                <a:cubicBezTo>
                  <a:pt x="0" y="203200"/>
                  <a:pt x="203200" y="0"/>
                  <a:pt x="454025" y="0"/>
                </a:cubicBezTo>
                <a:cubicBezTo>
                  <a:pt x="704850" y="0"/>
                  <a:pt x="907923" y="203200"/>
                  <a:pt x="907923" y="454025"/>
                </a:cubicBezTo>
                <a:cubicBezTo>
                  <a:pt x="907923" y="704850"/>
                  <a:pt x="704723" y="908050"/>
                  <a:pt x="453898" y="908050"/>
                </a:cubicBezTo>
                <a:cubicBezTo>
                  <a:pt x="203073" y="908050"/>
                  <a:pt x="0" y="704723"/>
                  <a:pt x="0" y="454025"/>
                </a:cubicBezTo>
                <a:close/>
              </a:path>
            </a:pathLst>
          </a:cu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57" name="Google Shape;157;p15"/>
          <p:cNvSpPr/>
          <p:nvPr/>
        </p:nvSpPr>
        <p:spPr>
          <a:xfrm>
            <a:off x="1416720" y="7617466"/>
            <a:ext cx="306372" cy="306381"/>
          </a:xfrm>
          <a:custGeom>
            <a:rect b="b" l="l" r="r" t="t"/>
            <a:pathLst>
              <a:path extrusionOk="0" h="306381" w="306372">
                <a:moveTo>
                  <a:pt x="0" y="0"/>
                </a:moveTo>
                <a:lnTo>
                  <a:pt x="306372" y="0"/>
                </a:lnTo>
                <a:lnTo>
                  <a:pt x="306372" y="306382"/>
                </a:lnTo>
                <a:lnTo>
                  <a:pt x="0" y="306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542" l="0" r="0" t="-4545"/>
            </a:stretch>
          </a:blipFill>
          <a:ln>
            <a:noFill/>
          </a:ln>
        </p:spPr>
      </p:sp>
      <p:sp>
        <p:nvSpPr>
          <p:cNvPr id="158" name="Google Shape;158;p15"/>
          <p:cNvSpPr txBox="1"/>
          <p:nvPr/>
        </p:nvSpPr>
        <p:spPr>
          <a:xfrm>
            <a:off x="1229506" y="8273729"/>
            <a:ext cx="7594044" cy="3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ASSESS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229506" y="8718194"/>
            <a:ext cx="7594044" cy="364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Fuse manufacturing risk (55%) + supply-chain risk (45%)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9236859" y="7188956"/>
            <a:ext cx="8076724" cy="2135409"/>
          </a:xfrm>
          <a:custGeom>
            <a:rect b="b" l="l" r="r" t="t"/>
            <a:pathLst>
              <a:path extrusionOk="0" h="2847213" w="10768965">
                <a:moveTo>
                  <a:pt x="0" y="127635"/>
                </a:moveTo>
                <a:cubicBezTo>
                  <a:pt x="0" y="57150"/>
                  <a:pt x="57150" y="0"/>
                  <a:pt x="127635" y="0"/>
                </a:cubicBezTo>
                <a:lnTo>
                  <a:pt x="10641330" y="0"/>
                </a:lnTo>
                <a:cubicBezTo>
                  <a:pt x="10711815" y="0"/>
                  <a:pt x="10768965" y="57150"/>
                  <a:pt x="10768965" y="127635"/>
                </a:cubicBezTo>
                <a:lnTo>
                  <a:pt x="10768965" y="2719578"/>
                </a:lnTo>
                <a:cubicBezTo>
                  <a:pt x="10768965" y="2790063"/>
                  <a:pt x="10711815" y="2847213"/>
                  <a:pt x="10641330" y="2847213"/>
                </a:cubicBezTo>
                <a:lnTo>
                  <a:pt x="127635" y="2847213"/>
                </a:lnTo>
                <a:cubicBezTo>
                  <a:pt x="57150" y="2847213"/>
                  <a:pt x="0" y="2790063"/>
                  <a:pt x="0" y="2719578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9478147" y="7430243"/>
            <a:ext cx="680942" cy="681038"/>
          </a:xfrm>
          <a:custGeom>
            <a:rect b="b" l="l" r="r" t="t"/>
            <a:pathLst>
              <a:path extrusionOk="0" h="908050" w="907923">
                <a:moveTo>
                  <a:pt x="0" y="454025"/>
                </a:moveTo>
                <a:cubicBezTo>
                  <a:pt x="0" y="203200"/>
                  <a:pt x="203200" y="0"/>
                  <a:pt x="454025" y="0"/>
                </a:cubicBezTo>
                <a:cubicBezTo>
                  <a:pt x="704850" y="0"/>
                  <a:pt x="907923" y="203200"/>
                  <a:pt x="907923" y="454025"/>
                </a:cubicBezTo>
                <a:cubicBezTo>
                  <a:pt x="907923" y="704850"/>
                  <a:pt x="704723" y="908050"/>
                  <a:pt x="453898" y="908050"/>
                </a:cubicBezTo>
                <a:cubicBezTo>
                  <a:pt x="203073" y="908050"/>
                  <a:pt x="0" y="704723"/>
                  <a:pt x="0" y="454025"/>
                </a:cubicBezTo>
                <a:close/>
              </a:path>
            </a:pathLst>
          </a:cu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62" name="Google Shape;162;p15"/>
          <p:cNvSpPr/>
          <p:nvPr/>
        </p:nvSpPr>
        <p:spPr>
          <a:xfrm>
            <a:off x="9665360" y="7617466"/>
            <a:ext cx="306372" cy="306381"/>
          </a:xfrm>
          <a:custGeom>
            <a:rect b="b" l="l" r="r" t="t"/>
            <a:pathLst>
              <a:path extrusionOk="0" h="306381" w="306372">
                <a:moveTo>
                  <a:pt x="0" y="0"/>
                </a:moveTo>
                <a:lnTo>
                  <a:pt x="306372" y="0"/>
                </a:lnTo>
                <a:lnTo>
                  <a:pt x="306372" y="306382"/>
                </a:lnTo>
                <a:lnTo>
                  <a:pt x="0" y="306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8176" l="0" r="0" t="-18180"/>
            </a:stretch>
          </a:blipFill>
          <a:ln>
            <a:noFill/>
          </a:ln>
        </p:spPr>
      </p:sp>
      <p:sp>
        <p:nvSpPr>
          <p:cNvPr id="163" name="Google Shape;163;p15"/>
          <p:cNvSpPr txBox="1"/>
          <p:nvPr/>
        </p:nvSpPr>
        <p:spPr>
          <a:xfrm>
            <a:off x="9478147" y="8273729"/>
            <a:ext cx="7594187" cy="3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RECOMMEND &amp; EXPLAIN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9478147" y="8718194"/>
            <a:ext cx="7594187" cy="364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Deterministic mitigations narrated by IBM Bob in natural language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ECECF3"/>
          </a:solidFill>
          <a:ln>
            <a:noFill/>
          </a:ln>
        </p:spPr>
      </p:sp>
      <p:sp>
        <p:nvSpPr>
          <p:cNvPr id="174" name="Google Shape;174;p16"/>
          <p:cNvSpPr/>
          <p:nvPr/>
        </p:nvSpPr>
        <p:spPr>
          <a:xfrm>
            <a:off x="0" y="-161094"/>
            <a:ext cx="18301810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</p:sp>
      <p:sp>
        <p:nvSpPr>
          <p:cNvPr id="175" name="Google Shape;175;p16"/>
          <p:cNvSpPr txBox="1"/>
          <p:nvPr/>
        </p:nvSpPr>
        <p:spPr>
          <a:xfrm>
            <a:off x="992991" y="833218"/>
            <a:ext cx="16315868" cy="60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2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TECHNICAL ARCHITECTURE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992991" y="1658807"/>
            <a:ext cx="17230954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Deterministic backend + IBM Bob explanation layer</a:t>
            </a:r>
            <a:endParaRPr/>
          </a:p>
        </p:txBody>
      </p:sp>
      <p:sp>
        <p:nvSpPr>
          <p:cNvPr descr="preencoded.png" id="177" name="Google Shape;177;p16"/>
          <p:cNvSpPr/>
          <p:nvPr/>
        </p:nvSpPr>
        <p:spPr>
          <a:xfrm>
            <a:off x="695013" y="2598782"/>
            <a:ext cx="10753544" cy="4921418"/>
          </a:xfrm>
          <a:custGeom>
            <a:rect b="b" l="l" r="r" t="t"/>
            <a:pathLst>
              <a:path extrusionOk="0" h="4143883" w="9054592">
                <a:moveTo>
                  <a:pt x="0" y="0"/>
                </a:moveTo>
                <a:lnTo>
                  <a:pt x="9054592" y="0"/>
                </a:lnTo>
                <a:lnTo>
                  <a:pt x="9054592" y="4143883"/>
                </a:lnTo>
                <a:lnTo>
                  <a:pt x="0" y="4143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5" l="0" r="0" t="-106"/>
            </a:stretch>
          </a:blipFill>
          <a:ln>
            <a:noFill/>
          </a:ln>
        </p:spPr>
      </p:sp>
      <p:sp>
        <p:nvSpPr>
          <p:cNvPr id="178" name="Google Shape;178;p16"/>
          <p:cNvSpPr txBox="1"/>
          <p:nvPr/>
        </p:nvSpPr>
        <p:spPr>
          <a:xfrm>
            <a:off x="8628970" y="3584136"/>
            <a:ext cx="1958995" cy="263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8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API &amp; UI Layer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546868" y="4050335"/>
            <a:ext cx="2361117" cy="5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1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84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FastAPI backend + React dashboard; persisted in Postgres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028700" y="5157652"/>
            <a:ext cx="2507375" cy="332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9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ML Explanation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695013" y="5597316"/>
            <a:ext cx="2841062" cy="443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3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IBM Bob (watsonx.ai) converts JSON to narrative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8546868" y="6003512"/>
            <a:ext cx="2452931" cy="316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8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Core Engine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8553008" y="6460363"/>
            <a:ext cx="2446792" cy="347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1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Deterministic scoring and risk fusion engines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11900068" y="2156736"/>
            <a:ext cx="5418163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Deterministic Engines</a:t>
            </a:r>
            <a:endParaRPr/>
          </a:p>
        </p:txBody>
      </p:sp>
      <p:sp>
        <p:nvSpPr>
          <p:cNvPr descr="preencoded.png" id="185" name="Google Shape;185;p16"/>
          <p:cNvSpPr/>
          <p:nvPr/>
        </p:nvSpPr>
        <p:spPr>
          <a:xfrm>
            <a:off x="11900068" y="2598782"/>
            <a:ext cx="5418163" cy="1058247"/>
          </a:xfrm>
          <a:custGeom>
            <a:rect b="b" l="l" r="r" t="t"/>
            <a:pathLst>
              <a:path extrusionOk="0" h="1058247" w="5418163">
                <a:moveTo>
                  <a:pt x="0" y="0"/>
                </a:moveTo>
                <a:lnTo>
                  <a:pt x="5418163" y="0"/>
                </a:lnTo>
                <a:lnTo>
                  <a:pt x="5418163" y="1058247"/>
                </a:lnTo>
                <a:lnTo>
                  <a:pt x="0" y="10582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89" l="0" r="0" t="-389"/>
            </a:stretch>
          </a:blipFill>
          <a:ln>
            <a:noFill/>
          </a:ln>
        </p:spPr>
      </p:sp>
      <p:sp>
        <p:nvSpPr>
          <p:cNvPr id="186" name="Google Shape;186;p16"/>
          <p:cNvSpPr txBox="1"/>
          <p:nvPr/>
        </p:nvSpPr>
        <p:spPr>
          <a:xfrm>
            <a:off x="12179779" y="2783195"/>
            <a:ext cx="4935007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Bottleneck Score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12179779" y="3191151"/>
            <a:ext cx="4935007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50% Utilization + 30% WIP + 20% Capacity Pressure</a:t>
            </a:r>
            <a:endParaRPr/>
          </a:p>
        </p:txBody>
      </p:sp>
      <p:sp>
        <p:nvSpPr>
          <p:cNvPr descr="preencoded.png" id="188" name="Google Shape;188;p16"/>
          <p:cNvSpPr/>
          <p:nvPr/>
        </p:nvSpPr>
        <p:spPr>
          <a:xfrm>
            <a:off x="11900068" y="3776786"/>
            <a:ext cx="5418163" cy="1058247"/>
          </a:xfrm>
          <a:custGeom>
            <a:rect b="b" l="l" r="r" t="t"/>
            <a:pathLst>
              <a:path extrusionOk="0" h="1058247" w="5418163">
                <a:moveTo>
                  <a:pt x="0" y="0"/>
                </a:moveTo>
                <a:lnTo>
                  <a:pt x="5418163" y="0"/>
                </a:lnTo>
                <a:lnTo>
                  <a:pt x="5418163" y="1058247"/>
                </a:lnTo>
                <a:lnTo>
                  <a:pt x="0" y="10582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89" l="0" r="0" t="-389"/>
            </a:stretch>
          </a:blipFill>
          <a:ln>
            <a:noFill/>
          </a:ln>
        </p:spPr>
      </p:sp>
      <p:sp>
        <p:nvSpPr>
          <p:cNvPr id="189" name="Google Shape;189;p16"/>
          <p:cNvSpPr txBox="1"/>
          <p:nvPr/>
        </p:nvSpPr>
        <p:spPr>
          <a:xfrm>
            <a:off x="12179779" y="3961190"/>
            <a:ext cx="4935007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Outage Backlog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2179779" y="4369156"/>
            <a:ext cx="4935007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Queuing theory — independently verifiable</a:t>
            </a:r>
            <a:endParaRPr/>
          </a:p>
        </p:txBody>
      </p:sp>
      <p:sp>
        <p:nvSpPr>
          <p:cNvPr descr="preencoded.png" id="191" name="Google Shape;191;p16"/>
          <p:cNvSpPr/>
          <p:nvPr/>
        </p:nvSpPr>
        <p:spPr>
          <a:xfrm>
            <a:off x="11900068" y="4954791"/>
            <a:ext cx="5418163" cy="1058247"/>
          </a:xfrm>
          <a:custGeom>
            <a:rect b="b" l="l" r="r" t="t"/>
            <a:pathLst>
              <a:path extrusionOk="0" h="1058247" w="5418163">
                <a:moveTo>
                  <a:pt x="0" y="0"/>
                </a:moveTo>
                <a:lnTo>
                  <a:pt x="5418163" y="0"/>
                </a:lnTo>
                <a:lnTo>
                  <a:pt x="5418163" y="1058246"/>
                </a:lnTo>
                <a:lnTo>
                  <a:pt x="0" y="1058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89" l="0" r="0" t="-389"/>
            </a:stretch>
          </a:blipFill>
          <a:ln>
            <a:noFill/>
          </a:ln>
        </p:spPr>
      </p:sp>
      <p:sp>
        <p:nvSpPr>
          <p:cNvPr id="192" name="Google Shape;192;p16"/>
          <p:cNvSpPr txBox="1"/>
          <p:nvPr/>
        </p:nvSpPr>
        <p:spPr>
          <a:xfrm>
            <a:off x="12179779" y="5139195"/>
            <a:ext cx="4935007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HHI Concentration Index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12179779" y="5547150"/>
            <a:ext cx="4935007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Supplier market concentration measurement</a:t>
            </a:r>
            <a:endParaRPr/>
          </a:p>
        </p:txBody>
      </p:sp>
      <p:sp>
        <p:nvSpPr>
          <p:cNvPr descr="preencoded.png" id="194" name="Google Shape;194;p16"/>
          <p:cNvSpPr/>
          <p:nvPr/>
        </p:nvSpPr>
        <p:spPr>
          <a:xfrm>
            <a:off x="11900068" y="6132786"/>
            <a:ext cx="5418163" cy="1058247"/>
          </a:xfrm>
          <a:custGeom>
            <a:rect b="b" l="l" r="r" t="t"/>
            <a:pathLst>
              <a:path extrusionOk="0" h="1058247" w="5418163">
                <a:moveTo>
                  <a:pt x="0" y="0"/>
                </a:moveTo>
                <a:lnTo>
                  <a:pt x="5418163" y="0"/>
                </a:lnTo>
                <a:lnTo>
                  <a:pt x="5418163" y="1058246"/>
                </a:lnTo>
                <a:lnTo>
                  <a:pt x="0" y="1058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89" l="0" r="0" t="-389"/>
            </a:stretch>
          </a:blipFill>
          <a:ln>
            <a:noFill/>
          </a:ln>
        </p:spPr>
      </p:sp>
      <p:sp>
        <p:nvSpPr>
          <p:cNvPr id="195" name="Google Shape;195;p16"/>
          <p:cNvSpPr txBox="1"/>
          <p:nvPr/>
        </p:nvSpPr>
        <p:spPr>
          <a:xfrm>
            <a:off x="12179779" y="6317199"/>
            <a:ext cx="4935007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SPOF Detection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2179779" y="6725155"/>
            <a:ext cx="4935007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Flags single-supplier dependency ≥ 70%</a:t>
            </a:r>
            <a:endParaRPr/>
          </a:p>
        </p:txBody>
      </p:sp>
      <p:sp>
        <p:nvSpPr>
          <p:cNvPr descr="preencoded.png" id="197" name="Google Shape;197;p16"/>
          <p:cNvSpPr/>
          <p:nvPr/>
        </p:nvSpPr>
        <p:spPr>
          <a:xfrm>
            <a:off x="11900068" y="7310790"/>
            <a:ext cx="5418163" cy="1058247"/>
          </a:xfrm>
          <a:custGeom>
            <a:rect b="b" l="l" r="r" t="t"/>
            <a:pathLst>
              <a:path extrusionOk="0" h="1058247" w="5418163">
                <a:moveTo>
                  <a:pt x="0" y="0"/>
                </a:moveTo>
                <a:lnTo>
                  <a:pt x="5418163" y="0"/>
                </a:lnTo>
                <a:lnTo>
                  <a:pt x="5418163" y="1058246"/>
                </a:lnTo>
                <a:lnTo>
                  <a:pt x="0" y="1058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89" l="0" r="0" t="-389"/>
            </a:stretch>
          </a:blipFill>
          <a:ln>
            <a:noFill/>
          </a:ln>
        </p:spPr>
      </p:sp>
      <p:sp>
        <p:nvSpPr>
          <p:cNvPr id="198" name="Google Shape;198;p16"/>
          <p:cNvSpPr txBox="1"/>
          <p:nvPr/>
        </p:nvSpPr>
        <p:spPr>
          <a:xfrm>
            <a:off x="12179779" y="7495203"/>
            <a:ext cx="4935007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Inventory Coverage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12179779" y="7903159"/>
            <a:ext cx="4935007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Days of coverage remaining per material</a:t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11900068" y="8503834"/>
            <a:ext cx="5418106" cy="794481"/>
          </a:xfrm>
          <a:custGeom>
            <a:rect b="b" l="l" r="r" t="t"/>
            <a:pathLst>
              <a:path extrusionOk="0" h="1059307" w="7224141">
                <a:moveTo>
                  <a:pt x="0" y="103251"/>
                </a:moveTo>
                <a:cubicBezTo>
                  <a:pt x="0" y="46228"/>
                  <a:pt x="46228" y="0"/>
                  <a:pt x="103251" y="0"/>
                </a:cubicBezTo>
                <a:lnTo>
                  <a:pt x="7120890" y="0"/>
                </a:lnTo>
                <a:cubicBezTo>
                  <a:pt x="7177913" y="0"/>
                  <a:pt x="7224141" y="46228"/>
                  <a:pt x="7224141" y="103251"/>
                </a:cubicBezTo>
                <a:lnTo>
                  <a:pt x="7224141" y="956056"/>
                </a:lnTo>
                <a:cubicBezTo>
                  <a:pt x="7224141" y="1013079"/>
                  <a:pt x="7177913" y="1059307"/>
                  <a:pt x="7120890" y="1059307"/>
                </a:cubicBezTo>
                <a:lnTo>
                  <a:pt x="103251" y="1059307"/>
                </a:lnTo>
                <a:cubicBezTo>
                  <a:pt x="46228" y="1059307"/>
                  <a:pt x="0" y="1013079"/>
                  <a:pt x="0" y="956056"/>
                </a:cubicBez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01" name="Google Shape;201;p16"/>
          <p:cNvSpPr/>
          <p:nvPr/>
        </p:nvSpPr>
        <p:spPr>
          <a:xfrm>
            <a:off x="12084453" y="8689276"/>
            <a:ext cx="230410" cy="184404"/>
          </a:xfrm>
          <a:custGeom>
            <a:rect b="b" l="l" r="r" t="t"/>
            <a:pathLst>
              <a:path extrusionOk="0" h="245872" w="307213">
                <a:moveTo>
                  <a:pt x="0" y="0"/>
                </a:moveTo>
                <a:lnTo>
                  <a:pt x="307213" y="0"/>
                </a:lnTo>
                <a:lnTo>
                  <a:pt x="307213" y="245872"/>
                </a:lnTo>
                <a:lnTo>
                  <a:pt x="0" y="24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-16" r="-20" t="0"/>
            </a:stretch>
          </a:blipFill>
          <a:ln>
            <a:noFill/>
          </a:ln>
        </p:spPr>
      </p:sp>
      <p:sp>
        <p:nvSpPr>
          <p:cNvPr id="202" name="Google Shape;202;p16"/>
          <p:cNvSpPr txBox="1"/>
          <p:nvPr/>
        </p:nvSpPr>
        <p:spPr>
          <a:xfrm>
            <a:off x="12499257" y="8638642"/>
            <a:ext cx="4634589" cy="505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6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Zero ML models.</a:t>
            </a:r>
            <a:r>
              <a:rPr b="0" i="0" lang="en-US" sz="1426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All calculations are deterministic and independently verifiable.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ECECF3"/>
          </a:solidFill>
          <a:ln>
            <a:noFill/>
          </a:ln>
        </p:spPr>
      </p:sp>
      <p:sp>
        <p:nvSpPr>
          <p:cNvPr id="212" name="Google Shape;212;p1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</p:sp>
      <p:sp>
        <p:nvSpPr>
          <p:cNvPr id="213" name="Google Shape;213;p17"/>
          <p:cNvSpPr txBox="1"/>
          <p:nvPr/>
        </p:nvSpPr>
        <p:spPr>
          <a:xfrm>
            <a:off x="992991" y="1053808"/>
            <a:ext cx="16315868" cy="693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8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LIVE DEMO: FROM OUTAGE TO ACTION</a:t>
            </a:r>
            <a:endParaRPr/>
          </a:p>
        </p:txBody>
      </p:sp>
      <p:sp>
        <p:nvSpPr>
          <p:cNvPr descr="preencoded.png" id="214" name="Google Shape;214;p17"/>
          <p:cNvSpPr/>
          <p:nvPr/>
        </p:nvSpPr>
        <p:spPr>
          <a:xfrm>
            <a:off x="626332" y="3474129"/>
            <a:ext cx="10470879" cy="4816667"/>
          </a:xfrm>
          <a:custGeom>
            <a:rect b="b" l="l" r="r" t="t"/>
            <a:pathLst>
              <a:path extrusionOk="0" h="4794885" w="10423525">
                <a:moveTo>
                  <a:pt x="0" y="0"/>
                </a:moveTo>
                <a:lnTo>
                  <a:pt x="10423525" y="0"/>
                </a:lnTo>
                <a:lnTo>
                  <a:pt x="10423525" y="4794885"/>
                </a:lnTo>
                <a:lnTo>
                  <a:pt x="0" y="4794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3" l="0" r="0" t="-44"/>
            </a:stretch>
          </a:blipFill>
          <a:ln>
            <a:noFill/>
          </a:ln>
        </p:spPr>
      </p:sp>
      <p:sp>
        <p:nvSpPr>
          <p:cNvPr id="215" name="Google Shape;215;p17"/>
          <p:cNvSpPr txBox="1"/>
          <p:nvPr/>
        </p:nvSpPr>
        <p:spPr>
          <a:xfrm>
            <a:off x="11945198" y="2127237"/>
            <a:ext cx="5373033" cy="683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What-if Outage Simulator: LITH-07 Tool Failure Scenario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11940435" y="2985887"/>
            <a:ext cx="488251" cy="488252"/>
          </a:xfrm>
          <a:custGeom>
            <a:rect b="b" l="l" r="r" t="t"/>
            <a:pathLst>
              <a:path extrusionOk="0" h="651002" w="651002">
                <a:moveTo>
                  <a:pt x="0" y="121539"/>
                </a:moveTo>
                <a:cubicBezTo>
                  <a:pt x="0" y="54356"/>
                  <a:pt x="54356" y="0"/>
                  <a:pt x="121539" y="0"/>
                </a:cubicBezTo>
                <a:lnTo>
                  <a:pt x="529463" y="0"/>
                </a:lnTo>
                <a:cubicBezTo>
                  <a:pt x="596646" y="0"/>
                  <a:pt x="651002" y="54356"/>
                  <a:pt x="651002" y="121539"/>
                </a:cubicBezTo>
                <a:lnTo>
                  <a:pt x="651002" y="529463"/>
                </a:lnTo>
                <a:cubicBezTo>
                  <a:pt x="651002" y="596646"/>
                  <a:pt x="596646" y="651002"/>
                  <a:pt x="529463" y="651002"/>
                </a:cubicBezTo>
                <a:lnTo>
                  <a:pt x="121539" y="651002"/>
                </a:lnTo>
                <a:cubicBezTo>
                  <a:pt x="54356" y="651002"/>
                  <a:pt x="0" y="596519"/>
                  <a:pt x="0" y="529463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>
            <a:off x="12024960" y="3023359"/>
            <a:ext cx="319183" cy="406166"/>
            <a:chOff x="0" y="-9525"/>
            <a:chExt cx="425577" cy="541555"/>
          </a:xfrm>
        </p:grpSpPr>
        <p:sp>
          <p:nvSpPr>
            <p:cNvPr id="218" name="Google Shape;218;p17"/>
            <p:cNvSpPr/>
            <p:nvPr/>
          </p:nvSpPr>
          <p:spPr>
            <a:xfrm>
              <a:off x="0" y="0"/>
              <a:ext cx="425572" cy="532030"/>
            </a:xfrm>
            <a:custGeom>
              <a:rect b="b" l="l" r="r" t="t"/>
              <a:pathLst>
                <a:path extrusionOk="0"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400" r="-110400" t="0"/>
              </a:stretch>
            </a:blipFill>
            <a:ln>
              <a:noFill/>
            </a:ln>
          </p:spPr>
        </p:sp>
        <p:sp>
          <p:nvSpPr>
            <p:cNvPr id="219" name="Google Shape;219;p17"/>
            <p:cNvSpPr txBox="1"/>
            <p:nvPr/>
          </p:nvSpPr>
          <p:spPr>
            <a:xfrm>
              <a:off x="0" y="-9525"/>
              <a:ext cx="425577" cy="541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76" u="none" cap="none" strike="noStrike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  <a:endParaRPr/>
            </a:p>
          </p:txBody>
        </p:sp>
      </p:grpSp>
      <p:sp>
        <p:nvSpPr>
          <p:cNvPr id="220" name="Google Shape;220;p17"/>
          <p:cNvSpPr txBox="1"/>
          <p:nvPr/>
        </p:nvSpPr>
        <p:spPr>
          <a:xfrm>
            <a:off x="12583411" y="3044742"/>
            <a:ext cx="4734830" cy="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Bottleneck Detection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2583411" y="3517649"/>
            <a:ext cx="4734830" cy="633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LITH-07 identified as critical — </a:t>
            </a:r>
            <a:r>
              <a:rPr b="1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91.8% combined risk score</a:t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11940435" y="4465949"/>
            <a:ext cx="488251" cy="488252"/>
          </a:xfrm>
          <a:custGeom>
            <a:rect b="b" l="l" r="r" t="t"/>
            <a:pathLst>
              <a:path extrusionOk="0" h="651002" w="651002">
                <a:moveTo>
                  <a:pt x="0" y="121539"/>
                </a:moveTo>
                <a:cubicBezTo>
                  <a:pt x="0" y="54356"/>
                  <a:pt x="54356" y="0"/>
                  <a:pt x="121539" y="0"/>
                </a:cubicBezTo>
                <a:lnTo>
                  <a:pt x="529463" y="0"/>
                </a:lnTo>
                <a:cubicBezTo>
                  <a:pt x="596646" y="0"/>
                  <a:pt x="651002" y="54356"/>
                  <a:pt x="651002" y="121539"/>
                </a:cubicBezTo>
                <a:lnTo>
                  <a:pt x="651002" y="529463"/>
                </a:lnTo>
                <a:cubicBezTo>
                  <a:pt x="651002" y="596646"/>
                  <a:pt x="596646" y="651002"/>
                  <a:pt x="529463" y="651002"/>
                </a:cubicBezTo>
                <a:lnTo>
                  <a:pt x="121539" y="651002"/>
                </a:lnTo>
                <a:cubicBezTo>
                  <a:pt x="54356" y="651002"/>
                  <a:pt x="0" y="596519"/>
                  <a:pt x="0" y="529463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" name="Google Shape;223;p17"/>
          <p:cNvGrpSpPr/>
          <p:nvPr/>
        </p:nvGrpSpPr>
        <p:grpSpPr>
          <a:xfrm>
            <a:off x="12024960" y="4503420"/>
            <a:ext cx="319183" cy="406166"/>
            <a:chOff x="0" y="-9525"/>
            <a:chExt cx="425577" cy="541555"/>
          </a:xfrm>
        </p:grpSpPr>
        <p:sp>
          <p:nvSpPr>
            <p:cNvPr id="224" name="Google Shape;224;p17"/>
            <p:cNvSpPr/>
            <p:nvPr/>
          </p:nvSpPr>
          <p:spPr>
            <a:xfrm>
              <a:off x="0" y="0"/>
              <a:ext cx="425572" cy="532030"/>
            </a:xfrm>
            <a:custGeom>
              <a:rect b="b" l="l" r="r" t="t"/>
              <a:pathLst>
                <a:path extrusionOk="0"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400" r="-110400" t="0"/>
              </a:stretch>
            </a:blipFill>
            <a:ln>
              <a:noFill/>
            </a:ln>
          </p:spPr>
        </p:sp>
        <p:sp>
          <p:nvSpPr>
            <p:cNvPr id="225" name="Google Shape;225;p17"/>
            <p:cNvSpPr txBox="1"/>
            <p:nvPr/>
          </p:nvSpPr>
          <p:spPr>
            <a:xfrm>
              <a:off x="0" y="-9525"/>
              <a:ext cx="425577" cy="541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76" u="none" cap="none" strike="noStrike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  <a:endParaRPr/>
            </a:p>
          </p:txBody>
        </p:sp>
      </p:grpSp>
      <p:sp>
        <p:nvSpPr>
          <p:cNvPr id="226" name="Google Shape;226;p17"/>
          <p:cNvSpPr txBox="1"/>
          <p:nvPr/>
        </p:nvSpPr>
        <p:spPr>
          <a:xfrm>
            <a:off x="12583411" y="4524804"/>
            <a:ext cx="4734830" cy="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Outage Impact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12583411" y="4997710"/>
            <a:ext cx="4734830" cy="633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8-hour outage modeled → backlog accumulation and recovery time calculated via queuing theory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11940435" y="5946010"/>
            <a:ext cx="488251" cy="488252"/>
          </a:xfrm>
          <a:custGeom>
            <a:rect b="b" l="l" r="r" t="t"/>
            <a:pathLst>
              <a:path extrusionOk="0" h="651002" w="651002">
                <a:moveTo>
                  <a:pt x="0" y="121539"/>
                </a:moveTo>
                <a:cubicBezTo>
                  <a:pt x="0" y="54356"/>
                  <a:pt x="54356" y="0"/>
                  <a:pt x="121539" y="0"/>
                </a:cubicBezTo>
                <a:lnTo>
                  <a:pt x="529463" y="0"/>
                </a:lnTo>
                <a:cubicBezTo>
                  <a:pt x="596646" y="0"/>
                  <a:pt x="651002" y="54356"/>
                  <a:pt x="651002" y="121539"/>
                </a:cubicBezTo>
                <a:lnTo>
                  <a:pt x="651002" y="529463"/>
                </a:lnTo>
                <a:cubicBezTo>
                  <a:pt x="651002" y="596646"/>
                  <a:pt x="596646" y="651002"/>
                  <a:pt x="529463" y="651002"/>
                </a:cubicBezTo>
                <a:lnTo>
                  <a:pt x="121539" y="651002"/>
                </a:lnTo>
                <a:cubicBezTo>
                  <a:pt x="54356" y="651002"/>
                  <a:pt x="0" y="596519"/>
                  <a:pt x="0" y="529463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17"/>
          <p:cNvGrpSpPr/>
          <p:nvPr/>
        </p:nvGrpSpPr>
        <p:grpSpPr>
          <a:xfrm>
            <a:off x="12024960" y="5983481"/>
            <a:ext cx="319183" cy="406166"/>
            <a:chOff x="0" y="-9525"/>
            <a:chExt cx="425577" cy="541555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425572" cy="532030"/>
            </a:xfrm>
            <a:custGeom>
              <a:rect b="b" l="l" r="r" t="t"/>
              <a:pathLst>
                <a:path extrusionOk="0"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400" r="-110400" t="0"/>
              </a:stretch>
            </a:blipFill>
            <a:ln>
              <a:noFill/>
            </a:ln>
          </p:spPr>
        </p:sp>
        <p:sp>
          <p:nvSpPr>
            <p:cNvPr id="231" name="Google Shape;231;p17"/>
            <p:cNvSpPr txBox="1"/>
            <p:nvPr/>
          </p:nvSpPr>
          <p:spPr>
            <a:xfrm>
              <a:off x="0" y="-9525"/>
              <a:ext cx="425577" cy="541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76" u="none" cap="none" strike="noStrike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  <a:endParaRPr/>
            </a:p>
          </p:txBody>
        </p:sp>
      </p:grpSp>
      <p:sp>
        <p:nvSpPr>
          <p:cNvPr id="232" name="Google Shape;232;p17"/>
          <p:cNvSpPr txBox="1"/>
          <p:nvPr/>
        </p:nvSpPr>
        <p:spPr>
          <a:xfrm>
            <a:off x="12583411" y="6004865"/>
            <a:ext cx="4734830" cy="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Supply Risk Trace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12583411" y="6477772"/>
            <a:ext cx="4734830" cy="633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Material dependencies traced, supplier concentration assessed automatically</a:t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11940435" y="7426071"/>
            <a:ext cx="488251" cy="488252"/>
          </a:xfrm>
          <a:custGeom>
            <a:rect b="b" l="l" r="r" t="t"/>
            <a:pathLst>
              <a:path extrusionOk="0" h="651002" w="651002">
                <a:moveTo>
                  <a:pt x="0" y="121539"/>
                </a:moveTo>
                <a:cubicBezTo>
                  <a:pt x="0" y="54356"/>
                  <a:pt x="54356" y="0"/>
                  <a:pt x="121539" y="0"/>
                </a:cubicBezTo>
                <a:lnTo>
                  <a:pt x="529463" y="0"/>
                </a:lnTo>
                <a:cubicBezTo>
                  <a:pt x="596646" y="0"/>
                  <a:pt x="651002" y="54356"/>
                  <a:pt x="651002" y="121539"/>
                </a:cubicBezTo>
                <a:lnTo>
                  <a:pt x="651002" y="529463"/>
                </a:lnTo>
                <a:cubicBezTo>
                  <a:pt x="651002" y="596646"/>
                  <a:pt x="596646" y="651002"/>
                  <a:pt x="529463" y="651002"/>
                </a:cubicBezTo>
                <a:lnTo>
                  <a:pt x="121539" y="651002"/>
                </a:lnTo>
                <a:cubicBezTo>
                  <a:pt x="54356" y="651002"/>
                  <a:pt x="0" y="596519"/>
                  <a:pt x="0" y="529463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17"/>
          <p:cNvGrpSpPr/>
          <p:nvPr/>
        </p:nvGrpSpPr>
        <p:grpSpPr>
          <a:xfrm>
            <a:off x="12024960" y="7463542"/>
            <a:ext cx="319183" cy="406166"/>
            <a:chOff x="0" y="-9525"/>
            <a:chExt cx="425577" cy="541555"/>
          </a:xfrm>
        </p:grpSpPr>
        <p:sp>
          <p:nvSpPr>
            <p:cNvPr id="236" name="Google Shape;236;p17"/>
            <p:cNvSpPr/>
            <p:nvPr/>
          </p:nvSpPr>
          <p:spPr>
            <a:xfrm>
              <a:off x="0" y="0"/>
              <a:ext cx="425572" cy="532030"/>
            </a:xfrm>
            <a:custGeom>
              <a:rect b="b" l="l" r="r" t="t"/>
              <a:pathLst>
                <a:path extrusionOk="0"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10400" r="-110400" t="0"/>
              </a:stretch>
            </a:blipFill>
            <a:ln>
              <a:noFill/>
            </a:ln>
          </p:spPr>
        </p:sp>
        <p:sp>
          <p:nvSpPr>
            <p:cNvPr id="237" name="Google Shape;237;p17"/>
            <p:cNvSpPr txBox="1"/>
            <p:nvPr/>
          </p:nvSpPr>
          <p:spPr>
            <a:xfrm>
              <a:off x="0" y="-9525"/>
              <a:ext cx="425577" cy="541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76" u="none" cap="none" strike="noStrike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  <a:endParaRPr/>
            </a:p>
          </p:txBody>
        </p:sp>
      </p:grpSp>
      <p:sp>
        <p:nvSpPr>
          <p:cNvPr id="238" name="Google Shape;238;p17"/>
          <p:cNvSpPr txBox="1"/>
          <p:nvPr/>
        </p:nvSpPr>
        <p:spPr>
          <a:xfrm>
            <a:off x="12583411" y="7484926"/>
            <a:ext cx="4734830" cy="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Recommendations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12583411" y="7957833"/>
            <a:ext cx="4734830" cy="633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Alternate tool routing, lot scheduling adjustments, inventory action plan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11945198" y="8733092"/>
            <a:ext cx="6288129" cy="33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 data shown is synthetic/demo data.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ECECF3"/>
          </a:solidFill>
          <a:ln>
            <a:noFill/>
          </a:ln>
        </p:spPr>
      </p:sp>
      <p:sp>
        <p:nvSpPr>
          <p:cNvPr id="250" name="Google Shape;250;p18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</p:sp>
      <p:sp>
        <p:nvSpPr>
          <p:cNvPr id="251" name="Google Shape;251;p18"/>
          <p:cNvSpPr txBox="1"/>
          <p:nvPr/>
        </p:nvSpPr>
        <p:spPr>
          <a:xfrm>
            <a:off x="992991" y="1091041"/>
            <a:ext cx="16315868" cy="693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8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IBM BOB: DECISION EXPLANATION LAYER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535438" y="2065744"/>
            <a:ext cx="17230954" cy="33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Deterministic calculations → Structured JSON → IBM Bob → Executive Brief</a:t>
            </a:r>
            <a:endParaRPr/>
          </a:p>
        </p:txBody>
      </p:sp>
      <p:sp>
        <p:nvSpPr>
          <p:cNvPr descr="preencoded.png" id="253" name="Google Shape;253;p18"/>
          <p:cNvSpPr/>
          <p:nvPr/>
        </p:nvSpPr>
        <p:spPr>
          <a:xfrm>
            <a:off x="1268695" y="2510163"/>
            <a:ext cx="7213073" cy="7379855"/>
          </a:xfrm>
          <a:custGeom>
            <a:rect b="b" l="l" r="r" t="t"/>
            <a:pathLst>
              <a:path extrusionOk="0" h="8080883" w="7898257">
                <a:moveTo>
                  <a:pt x="0" y="0"/>
                </a:moveTo>
                <a:lnTo>
                  <a:pt x="7898257" y="0"/>
                </a:lnTo>
                <a:lnTo>
                  <a:pt x="7898257" y="8080883"/>
                </a:lnTo>
                <a:lnTo>
                  <a:pt x="0" y="808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156" r="-1156" t="0"/>
            </a:stretch>
          </a:blipFill>
          <a:ln>
            <a:noFill/>
          </a:ln>
        </p:spPr>
      </p:sp>
      <p:sp>
        <p:nvSpPr>
          <p:cNvPr descr="preencoded.png" id="254" name="Google Shape;254;p18"/>
          <p:cNvSpPr/>
          <p:nvPr/>
        </p:nvSpPr>
        <p:spPr>
          <a:xfrm>
            <a:off x="9420054" y="2760688"/>
            <a:ext cx="3869331" cy="2453411"/>
          </a:xfrm>
          <a:custGeom>
            <a:rect b="b" l="l" r="r" t="t"/>
            <a:pathLst>
              <a:path extrusionOk="0" h="2453411" w="3869331">
                <a:moveTo>
                  <a:pt x="0" y="0"/>
                </a:moveTo>
                <a:lnTo>
                  <a:pt x="3869331" y="0"/>
                </a:lnTo>
                <a:lnTo>
                  <a:pt x="3869331" y="2453411"/>
                </a:lnTo>
                <a:lnTo>
                  <a:pt x="0" y="24534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0" l="0" r="0" t="-181"/>
            </a:stretch>
          </a:blipFill>
          <a:ln>
            <a:noFill/>
          </a:ln>
        </p:spPr>
      </p:sp>
      <p:sp>
        <p:nvSpPr>
          <p:cNvPr descr="preencoded.png" id="255" name="Google Shape;255;p18"/>
          <p:cNvSpPr/>
          <p:nvPr/>
        </p:nvSpPr>
        <p:spPr>
          <a:xfrm>
            <a:off x="11195133" y="2944035"/>
            <a:ext cx="319183" cy="319192"/>
          </a:xfrm>
          <a:custGeom>
            <a:rect b="b" l="l" r="r" t="t"/>
            <a:pathLst>
              <a:path extrusionOk="0" h="319192" w="319183">
                <a:moveTo>
                  <a:pt x="0" y="0"/>
                </a:moveTo>
                <a:lnTo>
                  <a:pt x="319182" y="0"/>
                </a:lnTo>
                <a:lnTo>
                  <a:pt x="319182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352" l="0" r="0" t="-7349"/>
            </a:stretch>
          </a:blipFill>
          <a:ln>
            <a:noFill/>
          </a:ln>
        </p:spPr>
      </p:sp>
      <p:sp>
        <p:nvSpPr>
          <p:cNvPr id="256" name="Google Shape;256;p18"/>
          <p:cNvSpPr txBox="1"/>
          <p:nvPr/>
        </p:nvSpPr>
        <p:spPr>
          <a:xfrm>
            <a:off x="9661341" y="3568132"/>
            <a:ext cx="3386766" cy="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 COMPUTES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9661341" y="4041038"/>
            <a:ext cx="3386766" cy="931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Bottleneck scores, outage backlog, HHI, SPOF, inventory coverage, combined risk fusion</a:t>
            </a:r>
            <a:endParaRPr/>
          </a:p>
        </p:txBody>
      </p:sp>
      <p:sp>
        <p:nvSpPr>
          <p:cNvPr descr="preencoded.png" id="258" name="Google Shape;258;p18"/>
          <p:cNvSpPr/>
          <p:nvPr/>
        </p:nvSpPr>
        <p:spPr>
          <a:xfrm>
            <a:off x="13448900" y="2760688"/>
            <a:ext cx="3869484" cy="2453411"/>
          </a:xfrm>
          <a:custGeom>
            <a:rect b="b" l="l" r="r" t="t"/>
            <a:pathLst>
              <a:path extrusionOk="0" h="2453411" w="3869484">
                <a:moveTo>
                  <a:pt x="0" y="0"/>
                </a:moveTo>
                <a:lnTo>
                  <a:pt x="3869484" y="0"/>
                </a:lnTo>
                <a:lnTo>
                  <a:pt x="3869484" y="2453411"/>
                </a:lnTo>
                <a:lnTo>
                  <a:pt x="0" y="24534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" l="0" r="0" t="-183"/>
            </a:stretch>
          </a:blipFill>
          <a:ln>
            <a:noFill/>
          </a:ln>
        </p:spPr>
      </p:sp>
      <p:sp>
        <p:nvSpPr>
          <p:cNvPr descr="preencoded.png" id="259" name="Google Shape;259;p18"/>
          <p:cNvSpPr/>
          <p:nvPr/>
        </p:nvSpPr>
        <p:spPr>
          <a:xfrm>
            <a:off x="15223979" y="2944035"/>
            <a:ext cx="319183" cy="319192"/>
          </a:xfrm>
          <a:custGeom>
            <a:rect b="b" l="l" r="r" t="t"/>
            <a:pathLst>
              <a:path extrusionOk="0"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260" name="Google Shape;260;p18"/>
          <p:cNvSpPr txBox="1"/>
          <p:nvPr/>
        </p:nvSpPr>
        <p:spPr>
          <a:xfrm>
            <a:off x="13690187" y="3568132"/>
            <a:ext cx="3386909" cy="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IBM BOB RECEIVES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3690187" y="4041038"/>
            <a:ext cx="3386909" cy="633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Structured JSON containing all calculated operational facts</a:t>
            </a:r>
            <a:endParaRPr/>
          </a:p>
        </p:txBody>
      </p:sp>
      <p:sp>
        <p:nvSpPr>
          <p:cNvPr descr="preencoded.png" id="262" name="Google Shape;262;p18"/>
          <p:cNvSpPr/>
          <p:nvPr/>
        </p:nvSpPr>
        <p:spPr>
          <a:xfrm>
            <a:off x="9420054" y="5373614"/>
            <a:ext cx="3869331" cy="2453411"/>
          </a:xfrm>
          <a:custGeom>
            <a:rect b="b" l="l" r="r" t="t"/>
            <a:pathLst>
              <a:path extrusionOk="0" h="2453411" w="3869331">
                <a:moveTo>
                  <a:pt x="0" y="0"/>
                </a:moveTo>
                <a:lnTo>
                  <a:pt x="3869331" y="0"/>
                </a:lnTo>
                <a:lnTo>
                  <a:pt x="3869331" y="2453412"/>
                </a:lnTo>
                <a:lnTo>
                  <a:pt x="0" y="2453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0" l="0" r="0" t="-181"/>
            </a:stretch>
          </a:blipFill>
          <a:ln>
            <a:noFill/>
          </a:ln>
        </p:spPr>
      </p:sp>
      <p:sp>
        <p:nvSpPr>
          <p:cNvPr descr="preencoded.png" id="263" name="Google Shape;263;p18"/>
          <p:cNvSpPr/>
          <p:nvPr/>
        </p:nvSpPr>
        <p:spPr>
          <a:xfrm>
            <a:off x="11195133" y="5556971"/>
            <a:ext cx="319183" cy="319192"/>
          </a:xfrm>
          <a:custGeom>
            <a:rect b="b" l="l" r="r" t="t"/>
            <a:pathLst>
              <a:path extrusionOk="0" h="319192" w="319183">
                <a:moveTo>
                  <a:pt x="0" y="0"/>
                </a:moveTo>
                <a:lnTo>
                  <a:pt x="319182" y="0"/>
                </a:lnTo>
                <a:lnTo>
                  <a:pt x="319182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407" l="0" r="0" t="-4410"/>
            </a:stretch>
          </a:blipFill>
          <a:ln>
            <a:noFill/>
          </a:ln>
        </p:spPr>
      </p:sp>
      <p:sp>
        <p:nvSpPr>
          <p:cNvPr id="264" name="Google Shape;264;p18"/>
          <p:cNvSpPr txBox="1"/>
          <p:nvPr/>
        </p:nvSpPr>
        <p:spPr>
          <a:xfrm>
            <a:off x="9661341" y="6181058"/>
            <a:ext cx="3386766" cy="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IBM BOB PRODUCES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9661341" y="6653975"/>
            <a:ext cx="3386766" cy="931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Executive summary, risk narrative, recommended action + rationale, trade-offs, confidence rating</a:t>
            </a:r>
            <a:endParaRPr/>
          </a:p>
        </p:txBody>
      </p:sp>
      <p:sp>
        <p:nvSpPr>
          <p:cNvPr descr="preencoded.png" id="266" name="Google Shape;266;p18"/>
          <p:cNvSpPr/>
          <p:nvPr/>
        </p:nvSpPr>
        <p:spPr>
          <a:xfrm>
            <a:off x="13448900" y="5373614"/>
            <a:ext cx="3869484" cy="2453411"/>
          </a:xfrm>
          <a:custGeom>
            <a:rect b="b" l="l" r="r" t="t"/>
            <a:pathLst>
              <a:path extrusionOk="0" h="2453411" w="3869484">
                <a:moveTo>
                  <a:pt x="0" y="0"/>
                </a:moveTo>
                <a:lnTo>
                  <a:pt x="3869484" y="0"/>
                </a:lnTo>
                <a:lnTo>
                  <a:pt x="3869484" y="2453412"/>
                </a:lnTo>
                <a:lnTo>
                  <a:pt x="0" y="2453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" l="0" r="0" t="-183"/>
            </a:stretch>
          </a:blipFill>
          <a:ln>
            <a:noFill/>
          </a:ln>
        </p:spPr>
      </p:sp>
      <p:sp>
        <p:nvSpPr>
          <p:cNvPr descr="preencoded.png" id="267" name="Google Shape;267;p18"/>
          <p:cNvSpPr/>
          <p:nvPr/>
        </p:nvSpPr>
        <p:spPr>
          <a:xfrm>
            <a:off x="15223979" y="5556971"/>
            <a:ext cx="319183" cy="319192"/>
          </a:xfrm>
          <a:custGeom>
            <a:rect b="b" l="l" r="r" t="t"/>
            <a:pathLst>
              <a:path extrusionOk="0"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268" name="Google Shape;268;p18"/>
          <p:cNvSpPr txBox="1"/>
          <p:nvPr/>
        </p:nvSpPr>
        <p:spPr>
          <a:xfrm>
            <a:off x="13690187" y="6181058"/>
            <a:ext cx="3386909" cy="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6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RESILIENT FALLBACK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13690187" y="6653975"/>
            <a:ext cx="3386909" cy="931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If Bob unavailable → deterministic template narration. Application continues working.</a:t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9420054" y="8006515"/>
            <a:ext cx="7898320" cy="989267"/>
          </a:xfrm>
          <a:custGeom>
            <a:rect b="b" l="l" r="r" t="t"/>
            <a:pathLst>
              <a:path extrusionOk="0" h="1319022" w="10531094">
                <a:moveTo>
                  <a:pt x="0" y="119126"/>
                </a:moveTo>
                <a:cubicBezTo>
                  <a:pt x="0" y="53340"/>
                  <a:pt x="53340" y="0"/>
                  <a:pt x="119126" y="0"/>
                </a:cubicBezTo>
                <a:lnTo>
                  <a:pt x="10411968" y="0"/>
                </a:lnTo>
                <a:cubicBezTo>
                  <a:pt x="10477754" y="0"/>
                  <a:pt x="10531094" y="53340"/>
                  <a:pt x="10531094" y="119126"/>
                </a:cubicBezTo>
                <a:lnTo>
                  <a:pt x="10531094" y="1199896"/>
                </a:lnTo>
                <a:cubicBezTo>
                  <a:pt x="10531094" y="1265682"/>
                  <a:pt x="10477754" y="1319022"/>
                  <a:pt x="10411968" y="1319022"/>
                </a:cubicBezTo>
                <a:lnTo>
                  <a:pt x="119126" y="1319022"/>
                </a:lnTo>
                <a:cubicBezTo>
                  <a:pt x="53340" y="1319022"/>
                  <a:pt x="0" y="1265682"/>
                  <a:pt x="0" y="1199896"/>
                </a:cubicBez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71" name="Google Shape;271;p18"/>
          <p:cNvSpPr/>
          <p:nvPr/>
        </p:nvSpPr>
        <p:spPr>
          <a:xfrm>
            <a:off x="9632747" y="8252270"/>
            <a:ext cx="266034" cy="212693"/>
          </a:xfrm>
          <a:custGeom>
            <a:rect b="b" l="l" r="r" t="t"/>
            <a:pathLst>
              <a:path extrusionOk="0" h="283591" w="354711">
                <a:moveTo>
                  <a:pt x="0" y="0"/>
                </a:moveTo>
                <a:lnTo>
                  <a:pt x="354711" y="0"/>
                </a:lnTo>
                <a:lnTo>
                  <a:pt x="354711" y="283591"/>
                </a:lnTo>
                <a:lnTo>
                  <a:pt x="0" y="283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365" l="0" r="10" t="-1365"/>
            </a:stretch>
          </a:blipFill>
          <a:ln>
            <a:noFill/>
          </a:ln>
        </p:spPr>
      </p:sp>
      <p:sp>
        <p:nvSpPr>
          <p:cNvPr id="272" name="Google Shape;272;p18"/>
          <p:cNvSpPr txBox="1"/>
          <p:nvPr/>
        </p:nvSpPr>
        <p:spPr>
          <a:xfrm>
            <a:off x="10111435" y="8165163"/>
            <a:ext cx="6994255" cy="633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IBM Bob is load-bearing.</a:t>
            </a:r>
            <a:r>
              <a:rPr b="0" i="0" lang="en-US" sz="1651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It transforms raw operational facts into human-readable decisions that ops teams can act on immediately.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ECECF3"/>
          </a:solidFill>
          <a:ln>
            <a:noFill/>
          </a:ln>
        </p:spPr>
      </p:sp>
      <p:sp>
        <p:nvSpPr>
          <p:cNvPr id="282" name="Google Shape;282;p19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</p:sp>
      <p:sp>
        <p:nvSpPr>
          <p:cNvPr id="283" name="Google Shape;283;p19"/>
          <p:cNvSpPr txBox="1"/>
          <p:nvPr/>
        </p:nvSpPr>
        <p:spPr>
          <a:xfrm>
            <a:off x="992991" y="844391"/>
            <a:ext cx="16315868" cy="60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2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SUCCESS LOOKS LIKE</a:t>
            </a:r>
            <a:endParaRPr/>
          </a:p>
        </p:txBody>
      </p:sp>
      <p:sp>
        <p:nvSpPr>
          <p:cNvPr descr="preencoded.png" id="284" name="Google Shape;284;p19"/>
          <p:cNvSpPr/>
          <p:nvPr/>
        </p:nvSpPr>
        <p:spPr>
          <a:xfrm>
            <a:off x="3663944" y="1490443"/>
            <a:ext cx="10605135" cy="4878419"/>
          </a:xfrm>
          <a:custGeom>
            <a:rect b="b" l="l" r="r" t="t"/>
            <a:pathLst>
              <a:path extrusionOk="0" h="6504559" w="14140180">
                <a:moveTo>
                  <a:pt x="0" y="0"/>
                </a:moveTo>
                <a:lnTo>
                  <a:pt x="14140180" y="0"/>
                </a:lnTo>
                <a:lnTo>
                  <a:pt x="14140180" y="6504559"/>
                </a:lnTo>
                <a:lnTo>
                  <a:pt x="0" y="65045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0" t="-1"/>
            </a:stretch>
          </a:blipFill>
          <a:ln>
            <a:noFill/>
          </a:ln>
        </p:spPr>
      </p:sp>
      <p:sp>
        <p:nvSpPr>
          <p:cNvPr id="285" name="Google Shape;285;p19"/>
          <p:cNvSpPr txBox="1"/>
          <p:nvPr/>
        </p:nvSpPr>
        <p:spPr>
          <a:xfrm>
            <a:off x="535438" y="6683150"/>
            <a:ext cx="17230954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Complete risk dashboard: bottleneck detection, outage simulation, supply-chain analysis, combined risk assessment</a:t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988219" y="7075608"/>
            <a:ext cx="16325375" cy="1972913"/>
          </a:xfrm>
          <a:custGeom>
            <a:rect b="b" l="l" r="r" t="t"/>
            <a:pathLst>
              <a:path extrusionOk="0" h="2630551" w="21767166">
                <a:moveTo>
                  <a:pt x="0" y="103759"/>
                </a:moveTo>
                <a:cubicBezTo>
                  <a:pt x="0" y="46482"/>
                  <a:pt x="46482" y="0"/>
                  <a:pt x="103759" y="0"/>
                </a:cubicBezTo>
                <a:lnTo>
                  <a:pt x="21663406" y="0"/>
                </a:lnTo>
                <a:cubicBezTo>
                  <a:pt x="21720683" y="0"/>
                  <a:pt x="21767166" y="46482"/>
                  <a:pt x="21767166" y="103759"/>
                </a:cubicBezTo>
                <a:lnTo>
                  <a:pt x="21767166" y="2526792"/>
                </a:lnTo>
                <a:cubicBezTo>
                  <a:pt x="21767166" y="2584069"/>
                  <a:pt x="21720683" y="2630551"/>
                  <a:pt x="21663406" y="2630551"/>
                </a:cubicBezTo>
                <a:lnTo>
                  <a:pt x="103759" y="2630551"/>
                </a:lnTo>
                <a:cubicBezTo>
                  <a:pt x="46482" y="2630551"/>
                  <a:pt x="0" y="2584069"/>
                  <a:pt x="0" y="2526792"/>
                </a:cubicBezTo>
                <a:close/>
              </a:path>
            </a:pathLst>
          </a:custGeom>
          <a:solidFill>
            <a:srgbClr val="E1E1EA"/>
          </a:solidFill>
          <a:ln cap="sq" cmpd="sng" w="9525">
            <a:solidFill>
              <a:srgbClr val="C7C7D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1002525" y="7089905"/>
            <a:ext cx="8148448" cy="972122"/>
          </a:xfrm>
          <a:custGeom>
            <a:rect b="b" l="l" r="r" t="t"/>
            <a:pathLst>
              <a:path extrusionOk="0" h="1296162" w="10864597">
                <a:moveTo>
                  <a:pt x="86106" y="0"/>
                </a:moveTo>
                <a:lnTo>
                  <a:pt x="10864597" y="0"/>
                </a:lnTo>
                <a:lnTo>
                  <a:pt x="10864597" y="1296162"/>
                </a:lnTo>
                <a:lnTo>
                  <a:pt x="0" y="1296162"/>
                </a:lnTo>
                <a:lnTo>
                  <a:pt x="0" y="86106"/>
                </a:lnTo>
                <a:cubicBezTo>
                  <a:pt x="0" y="38481"/>
                  <a:pt x="38481" y="0"/>
                  <a:pt x="86106" y="0"/>
                </a:cubicBez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1186910" y="7255250"/>
            <a:ext cx="7779620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Bottleneck Detection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1186910" y="7615247"/>
            <a:ext cx="7779620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Composite scoring with utilization, WIP &amp; capacity pressure</a:t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9150925" y="7089905"/>
            <a:ext cx="8148448" cy="972217"/>
          </a:xfrm>
          <a:custGeom>
            <a:rect b="b" l="l" r="r" t="t"/>
            <a:pathLst>
              <a:path extrusionOk="0" h="1296289" w="10864597">
                <a:moveTo>
                  <a:pt x="0" y="0"/>
                </a:moveTo>
                <a:lnTo>
                  <a:pt x="10778490" y="0"/>
                </a:lnTo>
                <a:cubicBezTo>
                  <a:pt x="10825988" y="0"/>
                  <a:pt x="10864597" y="38481"/>
                  <a:pt x="10864597" y="86106"/>
                </a:cubicBezTo>
                <a:lnTo>
                  <a:pt x="10864597" y="1296289"/>
                </a:lnTo>
                <a:lnTo>
                  <a:pt x="0" y="1296289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9150925" y="7089905"/>
            <a:ext cx="19050" cy="972122"/>
          </a:xfrm>
          <a:custGeom>
            <a:rect b="b" l="l" r="r" t="t"/>
            <a:pathLst>
              <a:path extrusionOk="0" h="1296162" w="2540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cubicBezTo>
                  <a:pt x="19685" y="0"/>
                  <a:pt x="25400" y="5715"/>
                  <a:pt x="25400" y="12700"/>
                </a:cubicBezTo>
                <a:lnTo>
                  <a:pt x="25400" y="1283462"/>
                </a:lnTo>
                <a:cubicBezTo>
                  <a:pt x="25400" y="1290447"/>
                  <a:pt x="19685" y="1296162"/>
                  <a:pt x="12700" y="1296162"/>
                </a:cubicBezTo>
                <a:cubicBezTo>
                  <a:pt x="5715" y="1296162"/>
                  <a:pt x="0" y="1290447"/>
                  <a:pt x="0" y="1283462"/>
                </a:cubicBezTo>
                <a:close/>
              </a:path>
            </a:pathLst>
          </a:cu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9335310" y="7255250"/>
            <a:ext cx="7779620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Outage Simulation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9335310" y="7615247"/>
            <a:ext cx="7779620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Backlog accumulation &amp; recovery time via queuing theory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1002525" y="8062065"/>
            <a:ext cx="8148447" cy="972122"/>
          </a:xfrm>
          <a:custGeom>
            <a:rect b="b" l="l" r="r" t="t"/>
            <a:pathLst>
              <a:path extrusionOk="0" h="1296162" w="10864596">
                <a:moveTo>
                  <a:pt x="0" y="0"/>
                </a:moveTo>
                <a:lnTo>
                  <a:pt x="10864596" y="0"/>
                </a:lnTo>
                <a:lnTo>
                  <a:pt x="10864596" y="1296162"/>
                </a:lnTo>
                <a:lnTo>
                  <a:pt x="86106" y="1296162"/>
                </a:lnTo>
                <a:cubicBezTo>
                  <a:pt x="38481" y="1296162"/>
                  <a:pt x="0" y="1257681"/>
                  <a:pt x="0" y="1210183"/>
                </a:cubicBez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1002525" y="8062065"/>
            <a:ext cx="8148352" cy="19050"/>
          </a:xfrm>
          <a:custGeom>
            <a:rect b="b" l="l" r="r" t="t"/>
            <a:pathLst>
              <a:path extrusionOk="0" h="25400" w="10864469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10851769" y="0"/>
                </a:lnTo>
                <a:cubicBezTo>
                  <a:pt x="10858753" y="0"/>
                  <a:pt x="10864469" y="5715"/>
                  <a:pt x="10864469" y="12700"/>
                </a:cubicBezTo>
                <a:cubicBezTo>
                  <a:pt x="10864469" y="19685"/>
                  <a:pt x="10858753" y="25400"/>
                  <a:pt x="10851769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1186910" y="8227409"/>
            <a:ext cx="7779620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Supplier Risk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1186910" y="8587407"/>
            <a:ext cx="7779620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HHI concentration index &amp; SPOF detection at ≥70%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9150925" y="8062065"/>
            <a:ext cx="8148447" cy="972217"/>
          </a:xfrm>
          <a:custGeom>
            <a:rect b="b" l="l" r="r" t="t"/>
            <a:pathLst>
              <a:path extrusionOk="0" h="1296289" w="10864596">
                <a:moveTo>
                  <a:pt x="0" y="0"/>
                </a:moveTo>
                <a:lnTo>
                  <a:pt x="10864596" y="0"/>
                </a:lnTo>
                <a:lnTo>
                  <a:pt x="10864596" y="1210183"/>
                </a:lnTo>
                <a:cubicBezTo>
                  <a:pt x="10864596" y="1257681"/>
                  <a:pt x="10826114" y="1296289"/>
                  <a:pt x="10778489" y="1296289"/>
                </a:cubicBezTo>
                <a:lnTo>
                  <a:pt x="0" y="1296289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9150925" y="8062065"/>
            <a:ext cx="19050" cy="972122"/>
          </a:xfrm>
          <a:custGeom>
            <a:rect b="b" l="l" r="r" t="t"/>
            <a:pathLst>
              <a:path extrusionOk="0" h="1296162" w="2540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cubicBezTo>
                  <a:pt x="19685" y="0"/>
                  <a:pt x="25400" y="5715"/>
                  <a:pt x="25400" y="12700"/>
                </a:cubicBezTo>
                <a:lnTo>
                  <a:pt x="25400" y="1283462"/>
                </a:lnTo>
                <a:cubicBezTo>
                  <a:pt x="25400" y="1290447"/>
                  <a:pt x="19685" y="1296162"/>
                  <a:pt x="12700" y="1296162"/>
                </a:cubicBezTo>
                <a:cubicBezTo>
                  <a:pt x="5715" y="1296162"/>
                  <a:pt x="0" y="1290447"/>
                  <a:pt x="0" y="1283462"/>
                </a:cubicBezTo>
                <a:close/>
              </a:path>
            </a:pathLst>
          </a:cu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9150925" y="8062065"/>
            <a:ext cx="8148352" cy="19050"/>
          </a:xfrm>
          <a:custGeom>
            <a:rect b="b" l="l" r="r" t="t"/>
            <a:pathLst>
              <a:path extrusionOk="0" h="25400" w="10864469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10851769" y="0"/>
                </a:lnTo>
                <a:cubicBezTo>
                  <a:pt x="10858753" y="0"/>
                  <a:pt x="10864469" y="5715"/>
                  <a:pt x="10864469" y="12700"/>
                </a:cubicBezTo>
                <a:cubicBezTo>
                  <a:pt x="10864469" y="19685"/>
                  <a:pt x="10858753" y="25400"/>
                  <a:pt x="10851769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9335310" y="8227409"/>
            <a:ext cx="7779620" cy="3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Risk Fusion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9335310" y="8587407"/>
            <a:ext cx="7779620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Combined 55% mfg + 45% supply-chain score with IBM Bob brief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535438" y="9159507"/>
            <a:ext cx="17230954" cy="26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Result:</a:t>
            </a:r>
            <a:r>
              <a:rPr b="0" i="0" lang="en-US" sz="1426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Turn operational signals into explainable, actionable decisions in seconds.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ECECF3"/>
          </a:solidFill>
          <a:ln>
            <a:noFill/>
          </a:ln>
        </p:spPr>
      </p:sp>
      <p:sp>
        <p:nvSpPr>
          <p:cNvPr id="313" name="Google Shape;313;p20"/>
          <p:cNvSpPr/>
          <p:nvPr/>
        </p:nvSpPr>
        <p:spPr>
          <a:xfrm>
            <a:off x="-13840" y="-17564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>
              <a:alpha val="90196"/>
            </a:srgbClr>
          </a:solidFill>
          <a:ln>
            <a:noFill/>
          </a:ln>
        </p:spPr>
      </p:sp>
      <p:sp>
        <p:nvSpPr>
          <p:cNvPr id="314" name="Google Shape;314;p20"/>
          <p:cNvSpPr txBox="1"/>
          <p:nvPr/>
        </p:nvSpPr>
        <p:spPr>
          <a:xfrm>
            <a:off x="992991" y="983952"/>
            <a:ext cx="16315868" cy="871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4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TEAM ALCHEMIST: BUILT FOR THE FAB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992991" y="2290829"/>
            <a:ext cx="17230954" cy="496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Four engineers, one integrated system</a:t>
            </a:r>
            <a:endParaRPr/>
          </a:p>
        </p:txBody>
      </p:sp>
      <p:sp>
        <p:nvSpPr>
          <p:cNvPr descr="preencoded.png" id="316" name="Google Shape;316;p20"/>
          <p:cNvSpPr/>
          <p:nvPr/>
        </p:nvSpPr>
        <p:spPr>
          <a:xfrm>
            <a:off x="992991" y="3075556"/>
            <a:ext cx="1604581" cy="1604582"/>
          </a:xfrm>
          <a:custGeom>
            <a:rect b="b" l="l" r="r" t="t"/>
            <a:pathLst>
              <a:path extrusionOk="0" h="2139442" w="2139442">
                <a:moveTo>
                  <a:pt x="0" y="0"/>
                </a:moveTo>
                <a:lnTo>
                  <a:pt x="2139442" y="0"/>
                </a:lnTo>
                <a:lnTo>
                  <a:pt x="2139442" y="2139442"/>
                </a:lnTo>
                <a:lnTo>
                  <a:pt x="0" y="2139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1" t="0"/>
            </a:stretch>
          </a:blipFill>
          <a:ln>
            <a:noFill/>
          </a:ln>
        </p:spPr>
      </p:sp>
      <p:sp>
        <p:nvSpPr>
          <p:cNvPr id="317" name="Google Shape;317;p20"/>
          <p:cNvSpPr txBox="1"/>
          <p:nvPr/>
        </p:nvSpPr>
        <p:spPr>
          <a:xfrm>
            <a:off x="992991" y="4981165"/>
            <a:ext cx="3838804" cy="44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Astha Makwana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992991" y="5498640"/>
            <a:ext cx="3838804" cy="1491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24DIT030</a:t>
            </a:r>
            <a:endParaRPr/>
          </a:p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Bottleneck Detection &amp; Outage Simulation</a:t>
            </a:r>
            <a:endParaRPr/>
          </a:p>
        </p:txBody>
      </p:sp>
      <p:sp>
        <p:nvSpPr>
          <p:cNvPr descr="preencoded.png" id="319" name="Google Shape;319;p20"/>
          <p:cNvSpPr/>
          <p:nvPr/>
        </p:nvSpPr>
        <p:spPr>
          <a:xfrm>
            <a:off x="5151863" y="3075556"/>
            <a:ext cx="1604581" cy="1604582"/>
          </a:xfrm>
          <a:custGeom>
            <a:rect b="b" l="l" r="r" t="t"/>
            <a:pathLst>
              <a:path extrusionOk="0" h="2139442" w="2139442">
                <a:moveTo>
                  <a:pt x="0" y="0"/>
                </a:moveTo>
                <a:lnTo>
                  <a:pt x="2139442" y="0"/>
                </a:lnTo>
                <a:lnTo>
                  <a:pt x="2139442" y="2139442"/>
                </a:lnTo>
                <a:lnTo>
                  <a:pt x="0" y="2139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1" t="0"/>
            </a:stretch>
          </a:blipFill>
          <a:ln>
            <a:noFill/>
          </a:ln>
        </p:spPr>
      </p:sp>
      <p:sp>
        <p:nvSpPr>
          <p:cNvPr id="320" name="Google Shape;320;p20"/>
          <p:cNvSpPr txBox="1"/>
          <p:nvPr/>
        </p:nvSpPr>
        <p:spPr>
          <a:xfrm>
            <a:off x="5151863" y="4981165"/>
            <a:ext cx="3838946" cy="44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Yashvi Bhadani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5151863" y="5498640"/>
            <a:ext cx="3838946" cy="107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24DIT004</a:t>
            </a:r>
            <a:endParaRPr/>
          </a:p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Supply Chain Risk Intelligence</a:t>
            </a:r>
            <a:endParaRPr/>
          </a:p>
        </p:txBody>
      </p:sp>
      <p:sp>
        <p:nvSpPr>
          <p:cNvPr descr="preencoded.png" id="322" name="Google Shape;322;p20"/>
          <p:cNvSpPr/>
          <p:nvPr/>
        </p:nvSpPr>
        <p:spPr>
          <a:xfrm>
            <a:off x="9310888" y="3075556"/>
            <a:ext cx="1604581" cy="1604582"/>
          </a:xfrm>
          <a:custGeom>
            <a:rect b="b" l="l" r="r" t="t"/>
            <a:pathLst>
              <a:path extrusionOk="0" h="2139442" w="2139442">
                <a:moveTo>
                  <a:pt x="0" y="0"/>
                </a:moveTo>
                <a:lnTo>
                  <a:pt x="2139442" y="0"/>
                </a:lnTo>
                <a:lnTo>
                  <a:pt x="2139442" y="2139442"/>
                </a:lnTo>
                <a:lnTo>
                  <a:pt x="0" y="2139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1" t="0"/>
            </a:stretch>
          </a:blipFill>
          <a:ln>
            <a:noFill/>
          </a:ln>
        </p:spPr>
      </p:sp>
      <p:sp>
        <p:nvSpPr>
          <p:cNvPr id="323" name="Google Shape;323;p20"/>
          <p:cNvSpPr txBox="1"/>
          <p:nvPr/>
        </p:nvSpPr>
        <p:spPr>
          <a:xfrm>
            <a:off x="9310888" y="4981165"/>
            <a:ext cx="3838946" cy="44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Manthan Chavda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9310888" y="5498640"/>
            <a:ext cx="3838946" cy="107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24DIT009</a:t>
            </a:r>
            <a:endParaRPr/>
          </a:p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Impact Engine &amp; Dashboard</a:t>
            </a:r>
            <a:endParaRPr/>
          </a:p>
        </p:txBody>
      </p:sp>
      <p:sp>
        <p:nvSpPr>
          <p:cNvPr descr="preencoded.png" id="325" name="Google Shape;325;p20"/>
          <p:cNvSpPr/>
          <p:nvPr/>
        </p:nvSpPr>
        <p:spPr>
          <a:xfrm>
            <a:off x="13469903" y="3075556"/>
            <a:ext cx="1604581" cy="1604582"/>
          </a:xfrm>
          <a:custGeom>
            <a:rect b="b" l="l" r="r" t="t"/>
            <a:pathLst>
              <a:path extrusionOk="0" h="2139442" w="2139442">
                <a:moveTo>
                  <a:pt x="0" y="0"/>
                </a:moveTo>
                <a:lnTo>
                  <a:pt x="2139442" y="0"/>
                </a:lnTo>
                <a:lnTo>
                  <a:pt x="2139442" y="2139442"/>
                </a:lnTo>
                <a:lnTo>
                  <a:pt x="0" y="2139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1" t="0"/>
            </a:stretch>
          </a:blipFill>
          <a:ln>
            <a:noFill/>
          </a:ln>
        </p:spPr>
      </p:sp>
      <p:sp>
        <p:nvSpPr>
          <p:cNvPr id="326" name="Google Shape;326;p20"/>
          <p:cNvSpPr txBox="1"/>
          <p:nvPr/>
        </p:nvSpPr>
        <p:spPr>
          <a:xfrm>
            <a:off x="13469903" y="4981165"/>
            <a:ext cx="3838946" cy="44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Radhika Dholakiya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13469903" y="5498640"/>
            <a:ext cx="38388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26MCA042</a:t>
            </a:r>
            <a:endParaRPr/>
          </a:p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Project Management &amp; Presentation Lead</a:t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798766" y="7277872"/>
            <a:ext cx="8217599" cy="2004536"/>
          </a:xfrm>
          <a:custGeom>
            <a:rect b="b" l="l" r="r" t="t"/>
            <a:pathLst>
              <a:path extrusionOk="0" h="2672715" w="10956798">
                <a:moveTo>
                  <a:pt x="0" y="258826"/>
                </a:moveTo>
                <a:cubicBezTo>
                  <a:pt x="0" y="115824"/>
                  <a:pt x="115824" y="0"/>
                  <a:pt x="258826" y="0"/>
                </a:cubicBezTo>
                <a:lnTo>
                  <a:pt x="10697972" y="0"/>
                </a:lnTo>
                <a:cubicBezTo>
                  <a:pt x="10840847" y="0"/>
                  <a:pt x="10956798" y="115824"/>
                  <a:pt x="10956798" y="258826"/>
                </a:cubicBezTo>
                <a:lnTo>
                  <a:pt x="10956798" y="2413889"/>
                </a:lnTo>
                <a:cubicBezTo>
                  <a:pt x="10956798" y="2556764"/>
                  <a:pt x="10840974" y="2672715"/>
                  <a:pt x="10697972" y="2672715"/>
                </a:cubicBezTo>
                <a:lnTo>
                  <a:pt x="258826" y="2672715"/>
                </a:lnTo>
                <a:cubicBezTo>
                  <a:pt x="115824" y="2672715"/>
                  <a:pt x="0" y="2556764"/>
                  <a:pt x="0" y="2413889"/>
                </a:cubicBezTo>
                <a:close/>
              </a:path>
            </a:pathLst>
          </a:custGeom>
          <a:solidFill>
            <a:srgbClr val="1B1B27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1068200" y="7514863"/>
            <a:ext cx="7678645" cy="44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Tech Stack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068200" y="8134807"/>
            <a:ext cx="7678645" cy="917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3.11+  |  FastAPI  |  React 18  |  TypeScript  |  PostgreSQL  |  IBM Bob (watsonx.ai Granite 13B)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9489310" y="7432091"/>
            <a:ext cx="7829074" cy="917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1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 data used in this system is synthetic/demo data. No real-world operational facts are claimed.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